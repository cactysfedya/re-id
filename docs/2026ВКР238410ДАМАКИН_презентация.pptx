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7" r:id="rId10"/>
    <p:sldId id="270" r:id="rId11"/>
    <p:sldId id="263" r:id="rId12"/>
    <p:sldId id="264" r:id="rId13"/>
    <p:sldId id="265" r:id="rId14"/>
    <p:sldId id="271" r:id="rId15"/>
    <p:sldId id="269" r:id="rId16"/>
    <p:sldId id="272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D6147E-0E31-4AAF-8ADD-D256378A2627}">
  <a:tblStyle styleId="{2ED6147E-0E31-4AAF-8ADD-D256378A26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005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ed6f068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ed6f068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753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ctysFedya/re-i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CactysFedya/re-id/releases/tag/v0.1.0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4000" b="0" dirty="0">
                <a:solidFill>
                  <a:srgbClr val="000000"/>
                </a:solidFill>
                <a:latin typeface="Calibri"/>
              </a:rPr>
              <a:t>Программный модуль для повторной идентификации объектов в видеопотоке с камер видеонаблюдения</a:t>
            </a: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</a:t>
            </a:r>
            <a:r>
              <a:rPr lang="ru-RU" sz="1800" dirty="0">
                <a:solidFill>
                  <a:srgbClr val="000000"/>
                </a:solidFill>
              </a:rPr>
              <a:t>		Дамакин Роман Павлович</a:t>
            </a:r>
            <a:r>
              <a:rPr lang="en" sz="1800" dirty="0">
                <a:solidFill>
                  <a:srgbClr val="000000"/>
                </a:solidFill>
              </a:rPr>
              <a:t>, гр. </a:t>
            </a:r>
            <a:r>
              <a:rPr lang="ru-RU" sz="1800" dirty="0">
                <a:solidFill>
                  <a:srgbClr val="000000"/>
                </a:solidFill>
              </a:rPr>
              <a:t>2384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000000"/>
                </a:solidFill>
              </a:rPr>
              <a:t>Руководитель:		Романцев Вениамин Викторович, к.т.н., доцент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</a:t>
            </a:r>
            <a:r>
              <a:rPr lang="ru-RU" sz="1800" dirty="0">
                <a:solidFill>
                  <a:srgbClr val="000000"/>
                </a:solidFill>
              </a:rPr>
              <a:t>		Клюканов Виталий Константинович, ассистент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</a:t>
            </a:r>
            <a:r>
              <a:rPr lang="ru-RU" sz="1800" dirty="0"/>
              <a:t> 2026</a:t>
            </a:r>
            <a:endParaRPr sz="1800" dirty="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и проблема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3334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Актуальность:</a:t>
            </a:r>
            <a:r>
              <a:rPr lang="ru-RU" sz="2000" dirty="0">
                <a:solidFill>
                  <a:srgbClr val="000000"/>
                </a:solidFill>
              </a:rPr>
              <a:t> большой объем данных, формируемых при видеонаблюдении, требует наличия инструментов для отслеживания и поиска объектов, попавших в кадр, однако существует ряд проблем: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000" dirty="0">
                <a:solidFill>
                  <a:srgbClr val="000000"/>
                </a:solidFill>
              </a:rPr>
              <a:t>Требуется сохранять идентичность потерянного объекта в течение длительного времени</a:t>
            </a:r>
          </a:p>
          <a:p>
            <a:pPr indent="-381000">
              <a:buClr>
                <a:srgbClr val="000000"/>
              </a:buClr>
              <a:buSzPts val="2400"/>
            </a:pPr>
            <a:r>
              <a:rPr lang="ru-RU" sz="2000" dirty="0">
                <a:solidFill>
                  <a:srgbClr val="000000"/>
                </a:solidFill>
              </a:rPr>
              <a:t>Существующие решения не образуют полноценные системы повторной идентификации или ограничены собственной экосистемой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ru-RU"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000000"/>
                </a:solidFill>
              </a:rPr>
              <a:t>Цель</a:t>
            </a:r>
            <a:r>
              <a:rPr lang="en" sz="2200" dirty="0">
                <a:solidFill>
                  <a:srgbClr val="000000"/>
                </a:solidFill>
              </a:rPr>
              <a:t>: </a:t>
            </a:r>
            <a:r>
              <a:rPr lang="ru-RU" sz="2200" dirty="0">
                <a:solidFill>
                  <a:srgbClr val="000000"/>
                </a:solidFill>
              </a:rPr>
              <a:t>программный модуль ReID для видеопотока, который обнаруживает объекты, извлекает признаки, сопоставляет их с галереей и восстанавливает глобальный ID после разрыва наблюдения</a:t>
            </a:r>
            <a:r>
              <a:rPr lang="en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000000"/>
                </a:solidFill>
              </a:rPr>
              <a:t>Задачи</a:t>
            </a:r>
            <a:r>
              <a:rPr lang="en" sz="2200" dirty="0">
                <a:solidFill>
                  <a:srgbClr val="000000"/>
                </a:solidFill>
              </a:rPr>
              <a:t>: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Анализ предметной области и обзор аналогов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Формирование требований к системе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Проектирование архитектуры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Реализация программного модуля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Экспериментальная оценка и проверка функциональности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endParaRPr sz="22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862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Подробнее о постановке задачи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2555999"/>
            <a:ext cx="8520600" cy="3535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81000">
              <a:buClr>
                <a:srgbClr val="000000"/>
              </a:buClr>
              <a:buSzPts val="2400"/>
            </a:pPr>
            <a:r>
              <a:rPr lang="ru-RU" sz="2400" dirty="0">
                <a:solidFill>
                  <a:srgbClr val="000000"/>
                </a:solidFill>
              </a:rPr>
              <a:t>В контексте задачи важна возможность повторного связывания идентичностей для потерянных объектов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400" dirty="0">
                <a:solidFill>
                  <a:srgbClr val="000000"/>
                </a:solidFill>
              </a:rPr>
              <a:t>Программный модуль предназначен для интегрирования и использования в системах видеоаналитики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400" dirty="0">
                <a:solidFill>
                  <a:srgbClr val="000000"/>
                </a:solidFill>
              </a:rPr>
              <a:t>К пользователям решения можно отнести инженера по интеграции, разработчика систем компьютерного зрения, технического специалиста видеонаблюдения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E5612099-309F-B8ED-06A3-C65FF43B2849}"/>
              </a:ext>
            </a:extLst>
          </p:cNvPr>
          <p:cNvSpPr/>
          <p:nvPr/>
        </p:nvSpPr>
        <p:spPr>
          <a:xfrm>
            <a:off x="1938166" y="1832272"/>
            <a:ext cx="267094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1F970F24-8CE9-711B-83C8-EACC1B9F1801}"/>
              </a:ext>
            </a:extLst>
          </p:cNvPr>
          <p:cNvSpPr/>
          <p:nvPr/>
        </p:nvSpPr>
        <p:spPr>
          <a:xfrm>
            <a:off x="4987396" y="1832272"/>
            <a:ext cx="267094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0B68E5D2-93A1-33BC-1227-4DF7CDB673C5}"/>
              </a:ext>
            </a:extLst>
          </p:cNvPr>
          <p:cNvSpPr/>
          <p:nvPr/>
        </p:nvSpPr>
        <p:spPr>
          <a:xfrm>
            <a:off x="6511366" y="1832272"/>
            <a:ext cx="267094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3A0CE61-96BA-D5A9-BDF9-607430F505A7}"/>
              </a:ext>
            </a:extLst>
          </p:cNvPr>
          <p:cNvSpPr/>
          <p:nvPr/>
        </p:nvSpPr>
        <p:spPr>
          <a:xfrm>
            <a:off x="679010" y="1457368"/>
            <a:ext cx="12591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7922"/>
            </a:solidFill>
            <a:prstDash val="solid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E8339CAC-6C1F-73D2-759D-707CDFBE0ED0}"/>
              </a:ext>
            </a:extLst>
          </p:cNvPr>
          <p:cNvSpPr/>
          <p:nvPr/>
        </p:nvSpPr>
        <p:spPr>
          <a:xfrm>
            <a:off x="727958" y="1576240"/>
            <a:ext cx="113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объект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исчез</a:t>
            </a:r>
            <a:endParaRPr lang="en-US" sz="14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2552506D-EC95-8F76-4E75-C8B977BD5A32}"/>
              </a:ext>
            </a:extLst>
          </p:cNvPr>
          <p:cNvSpPr/>
          <p:nvPr/>
        </p:nvSpPr>
        <p:spPr>
          <a:xfrm>
            <a:off x="2204270" y="1457368"/>
            <a:ext cx="1259156" cy="749808"/>
          </a:xfrm>
          <a:prstGeom prst="roundRect">
            <a:avLst>
              <a:gd name="adj" fmla="val 609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97922"/>
            </a:solidFill>
            <a:prstDash val="solid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C3342652-255B-B1E7-0CDC-E44F5A888E2E}"/>
              </a:ext>
            </a:extLst>
          </p:cNvPr>
          <p:cNvSpPr/>
          <p:nvPr/>
        </p:nvSpPr>
        <p:spPr>
          <a:xfrm>
            <a:off x="2253218" y="1576240"/>
            <a:ext cx="113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локальный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трек удален</a:t>
            </a:r>
            <a:endParaRPr lang="en-US" sz="1400" dirty="0"/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55B7E603-8046-01D0-FC32-419B8EA1516E}"/>
              </a:ext>
            </a:extLst>
          </p:cNvPr>
          <p:cNvSpPr/>
          <p:nvPr/>
        </p:nvSpPr>
        <p:spPr>
          <a:xfrm>
            <a:off x="5252210" y="1457368"/>
            <a:ext cx="1259156" cy="749808"/>
          </a:xfrm>
          <a:prstGeom prst="roundRect">
            <a:avLst>
              <a:gd name="adj" fmla="val 6098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DF2E2DF9-A7D3-E4ED-1A70-DB6285497207}"/>
              </a:ext>
            </a:extLst>
          </p:cNvPr>
          <p:cNvSpPr/>
          <p:nvPr/>
        </p:nvSpPr>
        <p:spPr>
          <a:xfrm>
            <a:off x="5301158" y="1576240"/>
            <a:ext cx="113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поиск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в галерее</a:t>
            </a:r>
            <a:endParaRPr lang="en-US" sz="1400" dirty="0"/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F72BA1B2-1015-1CCA-6C08-41CD9D6669E0}"/>
              </a:ext>
            </a:extLst>
          </p:cNvPr>
          <p:cNvSpPr/>
          <p:nvPr/>
        </p:nvSpPr>
        <p:spPr>
          <a:xfrm>
            <a:off x="6776180" y="1457368"/>
            <a:ext cx="1259156" cy="749808"/>
          </a:xfrm>
          <a:prstGeom prst="roundRect">
            <a:avLst>
              <a:gd name="adj" fmla="val 6098"/>
            </a:avLst>
          </a:prstGeom>
          <a:solidFill>
            <a:srgbClr val="EAF6F0"/>
          </a:solidFill>
          <a:ln w="12700">
            <a:solidFill>
              <a:srgbClr val="1A8A5B"/>
            </a:solidFill>
            <a:prstDash val="solid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3AB47CA8-CB18-47D0-4723-77C19B3F27A0}"/>
              </a:ext>
            </a:extLst>
          </p:cNvPr>
          <p:cNvSpPr/>
          <p:nvPr/>
        </p:nvSpPr>
        <p:spPr>
          <a:xfrm>
            <a:off x="6825128" y="1576240"/>
            <a:ext cx="113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восстановлен</a:t>
            </a:r>
            <a:endParaRPr lang="en-US" sz="14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9132C01C-4D80-5811-B516-F7B1EA97D3D1}"/>
              </a:ext>
            </a:extLst>
          </p:cNvPr>
          <p:cNvSpPr/>
          <p:nvPr/>
        </p:nvSpPr>
        <p:spPr>
          <a:xfrm>
            <a:off x="3463426" y="1835744"/>
            <a:ext cx="267094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A2734E4-192C-B1D8-519D-8F06511997B6}"/>
              </a:ext>
            </a:extLst>
          </p:cNvPr>
          <p:cNvSpPr/>
          <p:nvPr/>
        </p:nvSpPr>
        <p:spPr>
          <a:xfrm>
            <a:off x="3728240" y="1457368"/>
            <a:ext cx="12591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>
              <a:latin typeface="+mn-lt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717290A-94DE-20BC-240A-09EC631398FD}"/>
              </a:ext>
            </a:extLst>
          </p:cNvPr>
          <p:cNvSpPr/>
          <p:nvPr/>
        </p:nvSpPr>
        <p:spPr>
          <a:xfrm>
            <a:off x="3787118" y="1576240"/>
            <a:ext cx="113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b="1" dirty="0">
                <a:solidFill>
                  <a:srgbClr val="111111"/>
                </a:solidFill>
              </a:rPr>
              <a:t>объект вернулся в кадр</a:t>
            </a:r>
            <a:endParaRPr lang="en-US" sz="14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r>
              <a:rPr lang="ru-RU" dirty="0"/>
              <a:t>. Обзор аналогов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5605692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ru-RU" sz="1600" b="1">
                <a:solidFill>
                  <a:srgbClr val="111111"/>
                </a:solidFill>
                <a:latin typeface="+mn-lt"/>
              </a:rPr>
              <a:t>Вывод: </a:t>
            </a:r>
            <a:r>
              <a:rPr lang="ru-RU" sz="1600">
                <a:solidFill>
                  <a:srgbClr val="111111"/>
                </a:solidFill>
                <a:latin typeface="+mn-lt"/>
              </a:rPr>
              <a:t>требуется модуль, совмещающий потоковую обработку видео, отдельную галерею идентичностей, сохранение состояния и конфигурационное управление</a:t>
            </a:r>
            <a:endParaRPr lang="ru-RU" sz="1600">
              <a:latin typeface="+mn-lt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233980D-D9B4-D263-3317-F26A3EE5B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98769"/>
              </p:ext>
            </p:extLst>
          </p:nvPr>
        </p:nvGraphicFramePr>
        <p:xfrm>
          <a:off x="244444" y="1449000"/>
          <a:ext cx="8587857" cy="406455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62619">
                  <a:extLst>
                    <a:ext uri="{9D8B030D-6E8A-4147-A177-3AD203B41FA5}">
                      <a16:colId xmlns:a16="http://schemas.microsoft.com/office/drawing/2014/main" val="4050831996"/>
                    </a:ext>
                  </a:extLst>
                </a:gridCol>
                <a:gridCol w="2862619">
                  <a:extLst>
                    <a:ext uri="{9D8B030D-6E8A-4147-A177-3AD203B41FA5}">
                      <a16:colId xmlns:a16="http://schemas.microsoft.com/office/drawing/2014/main" val="1968839940"/>
                    </a:ext>
                  </a:extLst>
                </a:gridCol>
                <a:gridCol w="2862619">
                  <a:extLst>
                    <a:ext uri="{9D8B030D-6E8A-4147-A177-3AD203B41FA5}">
                      <a16:colId xmlns:a16="http://schemas.microsoft.com/office/drawing/2014/main" val="888001681"/>
                    </a:ext>
                  </a:extLst>
                </a:gridCol>
              </a:tblGrid>
              <a:tr h="68155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Группа решений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Назначение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Ограничение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913230"/>
                  </a:ext>
                </a:extLst>
              </a:tr>
              <a:tr h="112766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sz="2000" noProof="0" dirty="0"/>
                        <a:t>Deep SORT, </a:t>
                      </a:r>
                      <a:r>
                        <a:rPr lang="en-US" sz="2000" noProof="0" dirty="0" err="1"/>
                        <a:t>ByteTrack</a:t>
                      </a:r>
                      <a:r>
                        <a:rPr lang="en-US" sz="2000" noProof="0" dirty="0"/>
                        <a:t>, </a:t>
                      </a:r>
                      <a:r>
                        <a:rPr lang="en-US" sz="2000" noProof="0" dirty="0" err="1"/>
                        <a:t>BoT</a:t>
                      </a:r>
                      <a:r>
                        <a:rPr lang="en-US" sz="2000" noProof="0" dirty="0"/>
                        <a:t>-SORT</a:t>
                      </a:r>
                      <a:r>
                        <a:rPr lang="ru-RU" sz="2000" noProof="0" dirty="0"/>
                        <a:t> / </a:t>
                      </a:r>
                      <a:r>
                        <a:rPr lang="en-US" sz="2000" noProof="0" dirty="0" err="1"/>
                        <a:t>Ultralytics</a:t>
                      </a:r>
                      <a:r>
                        <a:rPr lang="en-US" sz="2000" noProof="0" dirty="0"/>
                        <a:t> ReID</a:t>
                      </a:r>
                      <a:endParaRPr lang="en-US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Системы трекинга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Нет долгосрочной галереи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06370"/>
                  </a:ext>
                </a:extLst>
              </a:tr>
              <a:tr h="112766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DeepStream</a:t>
                      </a:r>
                      <a:r>
                        <a:rPr lang="en-US" sz="2000" noProof="0" dirty="0"/>
                        <a:t>, </a:t>
                      </a:r>
                      <a:r>
                        <a:rPr lang="en-US" sz="2000" noProof="0" dirty="0" err="1"/>
                        <a:t>OpenVINO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Фреймворки для построения систем видеоаналитики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Привязка с экосистеме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17124"/>
                  </a:ext>
                </a:extLst>
              </a:tr>
              <a:tr h="112766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Torchreid</a:t>
                      </a:r>
                      <a:r>
                        <a:rPr lang="en-US" sz="2000" noProof="0" dirty="0"/>
                        <a:t>, Fast-ReID, Open-ReID</a:t>
                      </a:r>
                      <a:r>
                        <a:rPr lang="ru-RU" sz="2000" noProof="0" dirty="0"/>
                        <a:t>, </a:t>
                      </a:r>
                      <a:r>
                        <a:rPr lang="en-US" sz="2000" noProof="0" dirty="0"/>
                        <a:t>SOTA </a:t>
                      </a:r>
                      <a:r>
                        <a:rPr lang="ru-RU" sz="2000" noProof="0" dirty="0"/>
                        <a:t>решения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Библиотеки для обучения и анализа </a:t>
                      </a:r>
                      <a:r>
                        <a:rPr lang="en-US" sz="2000" noProof="0" dirty="0"/>
                        <a:t>ReID </a:t>
                      </a:r>
                      <a:r>
                        <a:rPr lang="ru-RU" sz="2000" noProof="0" dirty="0"/>
                        <a:t>моделей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2000" noProof="0" dirty="0"/>
                        <a:t>Не образуют полноценную систему </a:t>
                      </a:r>
                      <a:r>
                        <a:rPr lang="en-US" sz="2000" noProof="0" dirty="0"/>
                        <a:t>ReID</a:t>
                      </a:r>
                      <a:endParaRPr lang="ru-RU" sz="20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2463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sz="2800" b="0" dirty="0">
                <a:solidFill>
                  <a:srgbClr val="000000"/>
                </a:solidFill>
                <a:latin typeface="+mj-lt"/>
              </a:rPr>
              <a:t>Задача 2. Требования к программному модулю</a:t>
            </a:r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n-lt"/>
              </a:rPr>
              <a:t>6</a:t>
            </a:fld>
            <a:endParaRPr dirty="0">
              <a:latin typeface="+mn-lt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E9BC481-6A0F-5299-C364-A418A0B91B9D}"/>
              </a:ext>
            </a:extLst>
          </p:cNvPr>
          <p:cNvSpPr/>
          <p:nvPr/>
        </p:nvSpPr>
        <p:spPr>
          <a:xfrm>
            <a:off x="2311527" y="2104278"/>
            <a:ext cx="465407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041468-4774-9E0F-772C-1F336748BDFC}"/>
              </a:ext>
            </a:extLst>
          </p:cNvPr>
          <p:cNvSpPr/>
          <p:nvPr/>
        </p:nvSpPr>
        <p:spPr>
          <a:xfrm>
            <a:off x="4231767" y="2104278"/>
            <a:ext cx="465407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833734C7-353A-D69B-F46B-5BCB571DAEE0}"/>
              </a:ext>
            </a:extLst>
          </p:cNvPr>
          <p:cNvSpPr/>
          <p:nvPr/>
        </p:nvSpPr>
        <p:spPr>
          <a:xfrm>
            <a:off x="6152007" y="2104278"/>
            <a:ext cx="465407" cy="0"/>
          </a:xfrm>
          <a:prstGeom prst="line">
            <a:avLst/>
          </a:prstGeom>
          <a:noFill/>
          <a:ln w="1524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12CBFAA-D8BE-BE9A-6225-4CB83B63182B}"/>
              </a:ext>
            </a:extLst>
          </p:cNvPr>
          <p:cNvSpPr/>
          <p:nvPr/>
        </p:nvSpPr>
        <p:spPr>
          <a:xfrm>
            <a:off x="658960" y="1440741"/>
            <a:ext cx="1706494" cy="1038441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3F2F4F0-5738-FB6E-2742-49DA1C4B1F8B}"/>
              </a:ext>
            </a:extLst>
          </p:cNvPr>
          <p:cNvSpPr/>
          <p:nvPr/>
        </p:nvSpPr>
        <p:spPr>
          <a:xfrm>
            <a:off x="751286" y="1532675"/>
            <a:ext cx="1541016" cy="864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видео</a:t>
            </a:r>
            <a:endParaRPr lang="en-US" dirty="0">
              <a:latin typeface="+mn-lt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файл / </a:t>
            </a:r>
            <a:r>
              <a:rPr lang="ru-RU" b="1" dirty="0">
                <a:solidFill>
                  <a:srgbClr val="111111"/>
                </a:solidFill>
                <a:latin typeface="+mn-lt"/>
              </a:rPr>
              <a:t>видеопоток</a:t>
            </a:r>
            <a:r>
              <a:rPr lang="en-US" b="1" dirty="0">
                <a:solidFill>
                  <a:srgbClr val="111111"/>
                </a:solidFill>
                <a:latin typeface="+mn-lt"/>
              </a:rPr>
              <a:t> / камера</a:t>
            </a:r>
            <a:endParaRPr lang="en-US" dirty="0">
              <a:latin typeface="+mn-lt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AD9DE8B2-F0A0-452E-C7DE-3C071447822B}"/>
              </a:ext>
            </a:extLst>
          </p:cNvPr>
          <p:cNvSpPr/>
          <p:nvPr/>
        </p:nvSpPr>
        <p:spPr>
          <a:xfrm>
            <a:off x="2579200" y="1440741"/>
            <a:ext cx="1706494" cy="1038441"/>
          </a:xfrm>
          <a:prstGeom prst="roundRect">
            <a:avLst>
              <a:gd name="adj" fmla="val 6098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698A345-68C7-5C82-336C-56A879148D0B}"/>
              </a:ext>
            </a:extLst>
          </p:cNvPr>
          <p:cNvSpPr/>
          <p:nvPr/>
        </p:nvSpPr>
        <p:spPr>
          <a:xfrm>
            <a:off x="2671526" y="1532675"/>
            <a:ext cx="1541016" cy="864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модуль</a:t>
            </a:r>
            <a:endParaRPr lang="en-US" dirty="0">
              <a:latin typeface="+mn-lt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ReID</a:t>
            </a:r>
            <a:endParaRPr lang="en-US" dirty="0">
              <a:latin typeface="+mn-lt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07B6985-9104-22A2-66BD-6DADFDEE89E2}"/>
              </a:ext>
            </a:extLst>
          </p:cNvPr>
          <p:cNvSpPr/>
          <p:nvPr/>
        </p:nvSpPr>
        <p:spPr>
          <a:xfrm>
            <a:off x="4499440" y="1440741"/>
            <a:ext cx="1706494" cy="1038441"/>
          </a:xfrm>
          <a:prstGeom prst="roundRect">
            <a:avLst>
              <a:gd name="adj" fmla="val 6098"/>
            </a:avLst>
          </a:prstGeom>
          <a:solidFill>
            <a:srgbClr val="EAF6F0"/>
          </a:solidFill>
          <a:ln w="12700">
            <a:solidFill>
              <a:srgbClr val="1A8A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4A3FC4DB-7AFD-A624-E5B8-7BCA577D8FB9}"/>
              </a:ext>
            </a:extLst>
          </p:cNvPr>
          <p:cNvSpPr/>
          <p:nvPr/>
        </p:nvSpPr>
        <p:spPr>
          <a:xfrm>
            <a:off x="4591766" y="1532675"/>
            <a:ext cx="1541016" cy="864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глобальные</a:t>
            </a:r>
            <a:endParaRPr lang="en-US" dirty="0">
              <a:latin typeface="+mn-lt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ID</a:t>
            </a:r>
            <a:endParaRPr lang="en-US" dirty="0">
              <a:latin typeface="+mn-lt"/>
            </a:endParaRPr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36181511-A3E6-CE76-7892-2748BA6B28DF}"/>
              </a:ext>
            </a:extLst>
          </p:cNvPr>
          <p:cNvSpPr/>
          <p:nvPr/>
        </p:nvSpPr>
        <p:spPr>
          <a:xfrm>
            <a:off x="6419680" y="1440741"/>
            <a:ext cx="1706494" cy="1038441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4F2BC5FB-B0B6-F978-0692-31DB65522063}"/>
              </a:ext>
            </a:extLst>
          </p:cNvPr>
          <p:cNvSpPr/>
          <p:nvPr/>
        </p:nvSpPr>
        <p:spPr>
          <a:xfrm>
            <a:off x="6512006" y="1532675"/>
            <a:ext cx="1541016" cy="864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метрики</a:t>
            </a:r>
            <a:endParaRPr lang="en-US" dirty="0">
              <a:latin typeface="+mn-lt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+mn-lt"/>
              </a:rPr>
              <a:t>и видео</a:t>
            </a:r>
            <a:endParaRPr lang="en-US" dirty="0">
              <a:latin typeface="+mn-lt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B53BBE23-2B4D-E4A6-B249-47EE7B270CF6}"/>
              </a:ext>
            </a:extLst>
          </p:cNvPr>
          <p:cNvSpPr/>
          <p:nvPr/>
        </p:nvSpPr>
        <p:spPr>
          <a:xfrm>
            <a:off x="632610" y="2827567"/>
            <a:ext cx="2536328" cy="1540661"/>
          </a:xfrm>
          <a:prstGeom prst="roundRect">
            <a:avLst>
              <a:gd name="adj" fmla="val 5217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6E4CFAC-1304-EAD5-7EB6-9FCCDF9A76AF}"/>
              </a:ext>
            </a:extLst>
          </p:cNvPr>
          <p:cNvSpPr/>
          <p:nvPr/>
        </p:nvSpPr>
        <p:spPr>
          <a:xfrm>
            <a:off x="778914" y="2973871"/>
            <a:ext cx="2230054" cy="37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3A66"/>
                </a:solidFill>
                <a:latin typeface="+mn-lt"/>
              </a:rPr>
              <a:t>Вход</a:t>
            </a:r>
            <a:endParaRPr lang="en-US" dirty="0">
              <a:latin typeface="+mn-lt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47978672-91EB-65F0-3184-06D6A2D90E6F}"/>
              </a:ext>
            </a:extLst>
          </p:cNvPr>
          <p:cNvSpPr/>
          <p:nvPr/>
        </p:nvSpPr>
        <p:spPr>
          <a:xfrm>
            <a:off x="778914" y="3330487"/>
            <a:ext cx="2230054" cy="5760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+mn-lt"/>
              </a:rPr>
              <a:t>Видеофайл, потоковый источник или камера</a:t>
            </a:r>
            <a:endParaRPr lang="en-US" dirty="0">
              <a:latin typeface="+mn-lt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27189548-8F6D-7201-6354-9489560BFCF5}"/>
              </a:ext>
            </a:extLst>
          </p:cNvPr>
          <p:cNvSpPr/>
          <p:nvPr/>
        </p:nvSpPr>
        <p:spPr>
          <a:xfrm>
            <a:off x="3284370" y="2827567"/>
            <a:ext cx="2536328" cy="1540661"/>
          </a:xfrm>
          <a:prstGeom prst="roundRect">
            <a:avLst>
              <a:gd name="adj" fmla="val 5217"/>
            </a:avLst>
          </a:prstGeom>
          <a:solidFill>
            <a:srgbClr val="FFF1E4"/>
          </a:solidFill>
          <a:ln w="12700">
            <a:solidFill>
              <a:srgbClr val="D9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A39E2662-FC61-DB11-34F9-D7FA8A5862F7}"/>
              </a:ext>
            </a:extLst>
          </p:cNvPr>
          <p:cNvSpPr/>
          <p:nvPr/>
        </p:nvSpPr>
        <p:spPr>
          <a:xfrm>
            <a:off x="3430674" y="2973871"/>
            <a:ext cx="2230054" cy="37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97922"/>
                </a:solidFill>
                <a:latin typeface="+mn-lt"/>
              </a:rPr>
              <a:t>Обработка</a:t>
            </a:r>
            <a:endParaRPr lang="en-US" dirty="0">
              <a:latin typeface="+mn-lt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536187D4-C5F8-E2CC-94F5-BA69E1BA052D}"/>
              </a:ext>
            </a:extLst>
          </p:cNvPr>
          <p:cNvSpPr/>
          <p:nvPr/>
        </p:nvSpPr>
        <p:spPr>
          <a:xfrm>
            <a:off x="3430674" y="3330487"/>
            <a:ext cx="2230054" cy="5760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+mn-lt"/>
              </a:rPr>
              <a:t>Детекция, локальный трекинг, признаки и сопоставление с галереей</a:t>
            </a:r>
            <a:endParaRPr lang="en-US" dirty="0">
              <a:latin typeface="+mn-lt"/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AE610380-4CD7-4B6A-2F6E-13A89B646569}"/>
              </a:ext>
            </a:extLst>
          </p:cNvPr>
          <p:cNvSpPr/>
          <p:nvPr/>
        </p:nvSpPr>
        <p:spPr>
          <a:xfrm>
            <a:off x="5936130" y="2827567"/>
            <a:ext cx="2536328" cy="1540661"/>
          </a:xfrm>
          <a:prstGeom prst="roundRect">
            <a:avLst>
              <a:gd name="adj" fmla="val 5217"/>
            </a:avLst>
          </a:prstGeom>
          <a:solidFill>
            <a:srgbClr val="EAF6F0"/>
          </a:solidFill>
          <a:ln w="12700">
            <a:solidFill>
              <a:srgbClr val="1A8A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9C0E773-6BD2-EBC2-67F1-75FF8EB0F447}"/>
              </a:ext>
            </a:extLst>
          </p:cNvPr>
          <p:cNvSpPr/>
          <p:nvPr/>
        </p:nvSpPr>
        <p:spPr>
          <a:xfrm>
            <a:off x="6082434" y="2973871"/>
            <a:ext cx="2230054" cy="37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A8A5B"/>
                </a:solidFill>
                <a:latin typeface="+mn-lt"/>
              </a:rPr>
              <a:t>Выход</a:t>
            </a:r>
            <a:endParaRPr lang="en-US" dirty="0">
              <a:latin typeface="+mn-lt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A2C90B5E-6384-F055-9C12-B9798B82D69C}"/>
              </a:ext>
            </a:extLst>
          </p:cNvPr>
          <p:cNvSpPr/>
          <p:nvPr/>
        </p:nvSpPr>
        <p:spPr>
          <a:xfrm>
            <a:off x="6082434" y="3330487"/>
            <a:ext cx="2230054" cy="5760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+mn-lt"/>
              </a:rPr>
              <a:t>Размеченное видео, журнал, метрики, таблица назначений, состояние галереи</a:t>
            </a:r>
            <a:endParaRPr lang="en-US" dirty="0">
              <a:latin typeface="+mn-lt"/>
            </a:endParaRPr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499AF114-A293-160D-7B1D-C0B11FEBE059}"/>
              </a:ext>
            </a:extLst>
          </p:cNvPr>
          <p:cNvSpPr/>
          <p:nvPr/>
        </p:nvSpPr>
        <p:spPr>
          <a:xfrm>
            <a:off x="931374" y="4600197"/>
            <a:ext cx="2718773" cy="1540660"/>
          </a:xfrm>
          <a:prstGeom prst="roundRect">
            <a:avLst>
              <a:gd name="adj" fmla="val 11905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8E7D8AE8-2AAF-0B65-5F73-8303715099ED}"/>
              </a:ext>
            </a:extLst>
          </p:cNvPr>
          <p:cNvSpPr/>
          <p:nvPr/>
        </p:nvSpPr>
        <p:spPr>
          <a:xfrm>
            <a:off x="1041103" y="4700780"/>
            <a:ext cx="2446896" cy="12725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A66"/>
                </a:solidFill>
                <a:latin typeface="+mn-lt"/>
              </a:rPr>
              <a:t>Ключевые требования</a:t>
            </a:r>
            <a:endParaRPr lang="en-US" sz="1800" dirty="0">
              <a:latin typeface="+mn-lt"/>
            </a:endParaRPr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D8886B07-2DB8-5F6A-5926-43D55AAC1B88}"/>
              </a:ext>
            </a:extLst>
          </p:cNvPr>
          <p:cNvSpPr/>
          <p:nvPr/>
        </p:nvSpPr>
        <p:spPr>
          <a:xfrm>
            <a:off x="3931367" y="4855250"/>
            <a:ext cx="4541091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потоковая обработка</a:t>
            </a:r>
            <a:endParaRPr lang="ru-RU" sz="16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повторное назначение ID</a:t>
            </a:r>
            <a:endParaRPr lang="ru-RU" sz="1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сохранение и загрузка галереи</a:t>
            </a:r>
            <a:endParaRPr lang="ru-RU" sz="1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конфигурация без изменения кода</a:t>
            </a:r>
            <a:endParaRPr lang="ru-RU" sz="1600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Задача 3. Архитектура конвейера ReID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6BD28C6-B8FE-F9C7-9DDF-669DED089B61}"/>
              </a:ext>
            </a:extLst>
          </p:cNvPr>
          <p:cNvCxnSpPr>
            <a:cxnSpLocks/>
          </p:cNvCxnSpPr>
          <p:nvPr/>
        </p:nvCxnSpPr>
        <p:spPr>
          <a:xfrm>
            <a:off x="4679133" y="1963166"/>
            <a:ext cx="0" cy="27812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A7A4DA9-D695-5CE0-5947-61C6DB584B87}"/>
              </a:ext>
            </a:extLst>
          </p:cNvPr>
          <p:cNvCxnSpPr>
            <a:cxnSpLocks/>
          </p:cNvCxnSpPr>
          <p:nvPr/>
        </p:nvCxnSpPr>
        <p:spPr>
          <a:xfrm>
            <a:off x="4679133" y="2557166"/>
            <a:ext cx="0" cy="27812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0D50F516-79C1-5194-092F-436960F45549}"/>
              </a:ext>
            </a:extLst>
          </p:cNvPr>
          <p:cNvCxnSpPr>
            <a:cxnSpLocks/>
          </p:cNvCxnSpPr>
          <p:nvPr/>
        </p:nvCxnSpPr>
        <p:spPr>
          <a:xfrm>
            <a:off x="4679133" y="3151167"/>
            <a:ext cx="0" cy="278119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55F27A70-E3C9-2DD1-3F2C-6D8E66CE4C1C}"/>
              </a:ext>
            </a:extLst>
          </p:cNvPr>
          <p:cNvCxnSpPr>
            <a:cxnSpLocks/>
          </p:cNvCxnSpPr>
          <p:nvPr/>
        </p:nvCxnSpPr>
        <p:spPr>
          <a:xfrm>
            <a:off x="4679133" y="3745167"/>
            <a:ext cx="0" cy="27812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2E12D74-FEA0-950E-0587-45B13D92A977}"/>
              </a:ext>
            </a:extLst>
          </p:cNvPr>
          <p:cNvCxnSpPr>
            <a:cxnSpLocks/>
          </p:cNvCxnSpPr>
          <p:nvPr/>
        </p:nvCxnSpPr>
        <p:spPr>
          <a:xfrm>
            <a:off x="4679133" y="4339167"/>
            <a:ext cx="0" cy="278119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3A8CE669-7F08-A225-052A-98960A138197}"/>
              </a:ext>
            </a:extLst>
          </p:cNvPr>
          <p:cNvCxnSpPr>
            <a:cxnSpLocks/>
          </p:cNvCxnSpPr>
          <p:nvPr/>
        </p:nvCxnSpPr>
        <p:spPr>
          <a:xfrm>
            <a:off x="4679133" y="4933167"/>
            <a:ext cx="0" cy="278119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74D92E-6E04-AD86-7102-4A6582A322B5}"/>
              </a:ext>
            </a:extLst>
          </p:cNvPr>
          <p:cNvSpPr/>
          <p:nvPr/>
        </p:nvSpPr>
        <p:spPr>
          <a:xfrm>
            <a:off x="3095133" y="1603167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0" dirty="0">
                <a:solidFill>
                  <a:srgbClr val="000000"/>
                </a:solidFill>
              </a:rPr>
              <a:t>Получение кадра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A4E1F5-902B-D190-D8CF-2CB5D1D2B3D2}"/>
              </a:ext>
            </a:extLst>
          </p:cNvPr>
          <p:cNvSpPr/>
          <p:nvPr/>
        </p:nvSpPr>
        <p:spPr>
          <a:xfrm>
            <a:off x="3095133" y="2197166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1" dirty="0">
                <a:solidFill>
                  <a:srgbClr val="000000"/>
                </a:solidFill>
              </a:rPr>
              <a:t>Детекция объектов YOLO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DD44DE-7D33-F7C6-1391-8F3697C39B7C}"/>
              </a:ext>
            </a:extLst>
          </p:cNvPr>
          <p:cNvSpPr/>
          <p:nvPr/>
        </p:nvSpPr>
        <p:spPr>
          <a:xfrm>
            <a:off x="3095133" y="2791166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0" dirty="0">
                <a:solidFill>
                  <a:srgbClr val="000000"/>
                </a:solidFill>
              </a:rPr>
              <a:t>Локальный трекинг </a:t>
            </a:r>
            <a:r>
              <a:rPr lang="ru-RU" b="0" dirty="0" err="1">
                <a:solidFill>
                  <a:srgbClr val="000000"/>
                </a:solidFill>
              </a:rPr>
              <a:t>IoU</a:t>
            </a: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26303D-3AB9-1E2F-A39C-A2C689A7B0FF}"/>
              </a:ext>
            </a:extLst>
          </p:cNvPr>
          <p:cNvSpPr/>
          <p:nvPr/>
        </p:nvSpPr>
        <p:spPr>
          <a:xfrm>
            <a:off x="3095133" y="3385166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0" dirty="0">
                <a:solidFill>
                  <a:srgbClr val="000000"/>
                </a:solidFill>
              </a:rPr>
              <a:t>Извлечение признаков </a:t>
            </a:r>
            <a:r>
              <a:rPr lang="en-US" b="0" dirty="0">
                <a:solidFill>
                  <a:srgbClr val="000000"/>
                </a:solidFill>
              </a:rPr>
              <a:t>ReID</a:t>
            </a:r>
            <a:endParaRPr lang="ru-RU" b="0" dirty="0">
              <a:solidFill>
                <a:srgbClr val="000000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B92D53-FF9D-13CE-3B36-13B1BE845F3D}"/>
              </a:ext>
            </a:extLst>
          </p:cNvPr>
          <p:cNvSpPr/>
          <p:nvPr/>
        </p:nvSpPr>
        <p:spPr>
          <a:xfrm>
            <a:off x="3095133" y="3979167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1" dirty="0">
                <a:solidFill>
                  <a:srgbClr val="000000"/>
                </a:solidFill>
              </a:rPr>
              <a:t>Сопоставление с галереей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4AACC5-BDB3-EB13-E9CE-9187F78B00E0}"/>
              </a:ext>
            </a:extLst>
          </p:cNvPr>
          <p:cNvSpPr/>
          <p:nvPr/>
        </p:nvSpPr>
        <p:spPr>
          <a:xfrm>
            <a:off x="3095133" y="4573166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0" dirty="0">
                <a:solidFill>
                  <a:srgbClr val="000000"/>
                </a:solidFill>
              </a:rPr>
              <a:t>Назначение глобального ID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A8EEC59-4750-CC49-6CA3-72BBE3CF06BD}"/>
              </a:ext>
            </a:extLst>
          </p:cNvPr>
          <p:cNvSpPr/>
          <p:nvPr/>
        </p:nvSpPr>
        <p:spPr>
          <a:xfrm>
            <a:off x="3095133" y="5167166"/>
            <a:ext cx="3296614" cy="4278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6000" tIns="10800" rIns="36000" bIns="10800" rtlCol="0" anchor="ctr"/>
          <a:lstStyle/>
          <a:p>
            <a:pPr algn="ctr"/>
            <a:r>
              <a:rPr lang="ru-RU" b="0" dirty="0">
                <a:solidFill>
                  <a:srgbClr val="000000"/>
                </a:solidFill>
              </a:rPr>
              <a:t>Сохранение видео, метрик и галереи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B1F955-5FFD-0B63-C738-727F82E39FF3}"/>
              </a:ext>
            </a:extLst>
          </p:cNvPr>
          <p:cNvSpPr/>
          <p:nvPr/>
        </p:nvSpPr>
        <p:spPr>
          <a:xfrm>
            <a:off x="693689" y="1603168"/>
            <a:ext cx="2022922" cy="98411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</a:rPr>
              <a:t>TOML-конфигурация
модели, пороги, пути, режимы сохранения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18E48370-356C-6E44-8BAA-B3CD3735EB7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716611" y="1817105"/>
            <a:ext cx="378522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6D938-B57B-3256-07DB-2D22EC9693BF}"/>
              </a:ext>
            </a:extLst>
          </p:cNvPr>
          <p:cNvSpPr/>
          <p:nvPr/>
        </p:nvSpPr>
        <p:spPr>
          <a:xfrm>
            <a:off x="6648964" y="2463516"/>
            <a:ext cx="2097844" cy="1083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</a:rPr>
              <a:t>Локальная траектория живет коротко, глобальный ID хранится в галерее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F3AEB121-7AD4-611F-081A-719DBE560E33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6391747" y="3005104"/>
            <a:ext cx="257217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50" name="Connector 20">
            <a:extLst>
              <a:ext uri="{FF2B5EF4-FFF2-40B4-BE49-F238E27FC236}">
                <a16:creationId xmlns:a16="http://schemas.microsoft.com/office/drawing/2014/main" id="{B217FF4A-4B80-46AE-D2B5-43F08127A1F4}"/>
              </a:ext>
            </a:extLst>
          </p:cNvPr>
          <p:cNvCxnSpPr>
            <a:cxnSpLocks/>
          </p:cNvCxnSpPr>
          <p:nvPr/>
        </p:nvCxnSpPr>
        <p:spPr>
          <a:xfrm>
            <a:off x="2731835" y="4208634"/>
            <a:ext cx="374615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51" name="Rectangle 19">
            <a:extLst>
              <a:ext uri="{FF2B5EF4-FFF2-40B4-BE49-F238E27FC236}">
                <a16:creationId xmlns:a16="http://schemas.microsoft.com/office/drawing/2014/main" id="{0ECEAA12-2001-1AA3-7E02-AF62BE42BA84}"/>
              </a:ext>
            </a:extLst>
          </p:cNvPr>
          <p:cNvSpPr/>
          <p:nvPr/>
        </p:nvSpPr>
        <p:spPr>
          <a:xfrm>
            <a:off x="693689" y="3599105"/>
            <a:ext cx="2097844" cy="111566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</a:rPr>
              <a:t>Галерея может сохраняться периодически во работы системы</a:t>
            </a: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48E8F838-CD60-3770-AD89-5DCB78900E06}"/>
              </a:ext>
            </a:extLst>
          </p:cNvPr>
          <p:cNvSpPr/>
          <p:nvPr/>
        </p:nvSpPr>
        <p:spPr>
          <a:xfrm>
            <a:off x="6648964" y="4839516"/>
            <a:ext cx="2097844" cy="1083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</a:rPr>
              <a:t>Галерея признаков может быть загружена при следующем запуске системы</a:t>
            </a:r>
          </a:p>
        </p:txBody>
      </p:sp>
      <p:cxnSp>
        <p:nvCxnSpPr>
          <p:cNvPr id="71" name="Connector 20">
            <a:extLst>
              <a:ext uri="{FF2B5EF4-FFF2-40B4-BE49-F238E27FC236}">
                <a16:creationId xmlns:a16="http://schemas.microsoft.com/office/drawing/2014/main" id="{CAD9EB4E-F074-FE07-AA8C-6E34DC1E32E6}"/>
              </a:ext>
            </a:extLst>
          </p:cNvPr>
          <p:cNvCxnSpPr>
            <a:cxnSpLocks/>
          </p:cNvCxnSpPr>
          <p:nvPr/>
        </p:nvCxnSpPr>
        <p:spPr>
          <a:xfrm>
            <a:off x="6391746" y="5381103"/>
            <a:ext cx="257217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Задача 4. Реализация и используемые технологии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723A2CC-07AA-2DFA-E262-AA2501A67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18508"/>
              </p:ext>
            </p:extLst>
          </p:nvPr>
        </p:nvGraphicFramePr>
        <p:xfrm>
          <a:off x="360000" y="1670050"/>
          <a:ext cx="8424000" cy="456737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08000">
                  <a:extLst>
                    <a:ext uri="{9D8B030D-6E8A-4147-A177-3AD203B41FA5}">
                      <a16:colId xmlns:a16="http://schemas.microsoft.com/office/drawing/2014/main" val="3377469896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1856545387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3040822940"/>
                    </a:ext>
                  </a:extLst>
                </a:gridCol>
              </a:tblGrid>
              <a:tr h="452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Компонент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Роль в модуле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730103"/>
                  </a:ext>
                </a:extLst>
              </a:tr>
              <a:tr h="452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Язык и конфигурация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Python, 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запуск, параметры, профили экспериментов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05925"/>
                  </a:ext>
                </a:extLst>
              </a:tr>
              <a:tr h="452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Ввод и вывод видео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 err="1">
                          <a:latin typeface="+mn-lt"/>
                        </a:rPr>
                        <a:t>OpenCV</a:t>
                      </a:r>
                      <a:endParaRPr lang="ru-RU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чтение кадров, запись размеченного видео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20025"/>
                  </a:ext>
                </a:extLst>
              </a:tr>
              <a:tr h="452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Детектор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 err="1">
                          <a:latin typeface="+mn-lt"/>
                        </a:rPr>
                        <a:t>Ultralytics</a:t>
                      </a:r>
                      <a:r>
                        <a:rPr lang="ru-RU" sz="1800" noProof="0" dirty="0">
                          <a:latin typeface="+mn-lt"/>
                        </a:rPr>
                        <a:t> YOLO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обнаружение объектов целевых классов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146083"/>
                  </a:ext>
                </a:extLst>
              </a:tr>
              <a:tr h="452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ReID-модель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Torchreid, </a:t>
                      </a:r>
                      <a:r>
                        <a:rPr lang="ru-RU" sz="1800" noProof="0" dirty="0" err="1">
                          <a:latin typeface="+mn-lt"/>
                        </a:rPr>
                        <a:t>OSNet</a:t>
                      </a:r>
                      <a:r>
                        <a:rPr lang="ru-RU" sz="1800" noProof="0" dirty="0">
                          <a:latin typeface="+mn-lt"/>
                        </a:rPr>
                        <a:t> x1.0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формирование признаковых векторов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57108"/>
                  </a:ext>
                </a:extLst>
              </a:tr>
              <a:tr h="452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Галерея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собственная реализация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хранение прототипов, метаданных и глобальных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423688"/>
                  </a:ext>
                </a:extLst>
              </a:tr>
              <a:tr h="45257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Поставка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 err="1">
                          <a:latin typeface="+mn-lt"/>
                        </a:rPr>
                        <a:t>setuptools</a:t>
                      </a:r>
                      <a:r>
                        <a:rPr lang="ru-RU" sz="1800" noProof="0" dirty="0">
                          <a:latin typeface="+mn-lt"/>
                        </a:rPr>
                        <a:t>, </a:t>
                      </a:r>
                      <a:r>
                        <a:rPr lang="ru-RU" sz="1800" noProof="0" dirty="0" err="1">
                          <a:latin typeface="+mn-lt"/>
                        </a:rPr>
                        <a:t>wheel</a:t>
                      </a:r>
                      <a:endParaRPr lang="ru-RU" sz="18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sz="1800" noProof="0" dirty="0">
                          <a:latin typeface="+mn-lt"/>
                        </a:rPr>
                        <a:t>установка как Python-пакета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493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b="0" dirty="0">
                <a:solidFill>
                  <a:srgbClr val="000000"/>
                </a:solidFill>
                <a:latin typeface="Calibri"/>
              </a:rPr>
              <a:t>Задача 5. Проверка функциональных возможностей</a:t>
            </a:r>
            <a:endParaRPr dirty="0"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</a:rPr>
              <a:t>Подтверждены возможности: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восстановления и переиспользования галереи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идентификации машин и людей одновременно</a:t>
            </a:r>
          </a:p>
          <a:p>
            <a:pPr marL="342900"/>
            <a:r>
              <a:rPr lang="ru-RU" sz="2400" dirty="0">
                <a:solidFill>
                  <a:srgbClr val="000000"/>
                </a:solidFill>
              </a:rPr>
              <a:t>загрузки собственных весов модели </a:t>
            </a:r>
            <a:r>
              <a:rPr lang="en-US" sz="2400" dirty="0">
                <a:solidFill>
                  <a:srgbClr val="000000"/>
                </a:solidFill>
              </a:rPr>
              <a:t>ReID</a:t>
            </a: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pic>
        <p:nvPicPr>
          <p:cNvPr id="2" name="Picture 4" descr="image8.png">
            <a:extLst>
              <a:ext uri="{FF2B5EF4-FFF2-40B4-BE49-F238E27FC236}">
                <a16:creationId xmlns:a16="http://schemas.microsoft.com/office/drawing/2014/main" id="{3F29AD47-89A8-9282-07C5-794A73EB3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6" y="1356867"/>
            <a:ext cx="2530468" cy="1907999"/>
          </a:xfrm>
          <a:prstGeom prst="rect">
            <a:avLst/>
          </a:prstGeom>
        </p:spPr>
      </p:pic>
      <p:pic>
        <p:nvPicPr>
          <p:cNvPr id="3" name="Picture 5" descr="image9.png">
            <a:extLst>
              <a:ext uri="{FF2B5EF4-FFF2-40B4-BE49-F238E27FC236}">
                <a16:creationId xmlns:a16="http://schemas.microsoft.com/office/drawing/2014/main" id="{BCF76B21-555B-BFBB-9049-772692371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020" y="1356866"/>
            <a:ext cx="2185475" cy="1907999"/>
          </a:xfrm>
          <a:prstGeom prst="rect">
            <a:avLst/>
          </a:prstGeom>
        </p:spPr>
      </p:pic>
      <p:pic>
        <p:nvPicPr>
          <p:cNvPr id="4" name="Picture 6" descr="image11.png">
            <a:extLst>
              <a:ext uri="{FF2B5EF4-FFF2-40B4-BE49-F238E27FC236}">
                <a16:creationId xmlns:a16="http://schemas.microsoft.com/office/drawing/2014/main" id="{91C18A36-60CA-9062-B4B4-FF4A378DE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575" y="1356867"/>
            <a:ext cx="2189206" cy="2702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6D7F3-341A-1175-153A-3DA30F4D7294}"/>
              </a:ext>
            </a:extLst>
          </p:cNvPr>
          <p:cNvSpPr txBox="1"/>
          <p:nvPr/>
        </p:nvSpPr>
        <p:spPr>
          <a:xfrm>
            <a:off x="3246020" y="3304875"/>
            <a:ext cx="2185475" cy="568538"/>
          </a:xfrm>
          <a:prstGeom prst="rect">
            <a:avLst/>
          </a:prstGeom>
          <a:noFill/>
          <a:ln>
            <a:noFill/>
          </a:ln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lang="ru-RU" sz="1200" b="1" dirty="0">
                <a:solidFill>
                  <a:srgbClr val="000000"/>
                </a:solidFill>
                <a:latin typeface="+mn-lt"/>
              </a:rPr>
              <a:t>Рисунок 2. Повторное связывание после пропуска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80C2D-80BD-5075-9F7C-8C17432F97EE}"/>
              </a:ext>
            </a:extLst>
          </p:cNvPr>
          <p:cNvSpPr txBox="1"/>
          <p:nvPr/>
        </p:nvSpPr>
        <p:spPr>
          <a:xfrm>
            <a:off x="5969574" y="4080057"/>
            <a:ext cx="2189207" cy="383873"/>
          </a:xfrm>
          <a:prstGeom prst="rect">
            <a:avLst/>
          </a:prstGeom>
          <a:noFill/>
          <a:ln>
            <a:noFill/>
          </a:ln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lang="ru-RU" sz="1200" b="1" dirty="0">
                <a:solidFill>
                  <a:srgbClr val="000000"/>
                </a:solidFill>
                <a:latin typeface="+mn-lt"/>
              </a:rPr>
              <a:t>Рисунок 3. Несколько классов объектов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ED3FD-FD88-1806-2AEB-B346B390FF11}"/>
              </a:ext>
            </a:extLst>
          </p:cNvPr>
          <p:cNvSpPr txBox="1"/>
          <p:nvPr/>
        </p:nvSpPr>
        <p:spPr>
          <a:xfrm>
            <a:off x="513626" y="3302965"/>
            <a:ext cx="2530468" cy="383873"/>
          </a:xfrm>
          <a:prstGeom prst="rect">
            <a:avLst/>
          </a:prstGeom>
          <a:noFill/>
          <a:ln>
            <a:noFill/>
          </a:ln>
        </p:spPr>
        <p:txBody>
          <a:bodyPr wrap="square" lIns="18000" tIns="7200" rIns="18000" bIns="7200" anchor="t">
            <a:spAutoFit/>
          </a:bodyPr>
          <a:lstStyle/>
          <a:p>
            <a:pPr algn="ctr"/>
            <a:r>
              <a:rPr lang="ru-RU" sz="1200" b="1" dirty="0">
                <a:solidFill>
                  <a:srgbClr val="000000"/>
                </a:solidFill>
                <a:latin typeface="+mn-lt"/>
              </a:rPr>
              <a:t>Рисунок 1. формирование галереи</a:t>
            </a:r>
          </a:p>
        </p:txBody>
      </p:sp>
    </p:spTree>
    <p:extLst>
      <p:ext uri="{BB962C8B-B14F-4D97-AF65-F5344CB8AC3E}">
        <p14:creationId xmlns:p14="http://schemas.microsoft.com/office/powerpoint/2010/main" val="27626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BD94-AB3A-7138-4625-E7C10B35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Экспериментальная оценка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C3FB90-E356-C957-9613-CFE8C2A60A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385880-54B2-F336-7888-3B15F4844136}"/>
              </a:ext>
            </a:extLst>
          </p:cNvPr>
          <p:cNvSpPr/>
          <p:nvPr/>
        </p:nvSpPr>
        <p:spPr>
          <a:xfrm>
            <a:off x="495677" y="1356866"/>
            <a:ext cx="2884966" cy="1676044"/>
          </a:xfrm>
          <a:prstGeom prst="roundRect">
            <a:avLst>
              <a:gd name="adj" fmla="val 11905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94DF14-45FD-A9E2-89FE-617C5FBCEA4E}"/>
              </a:ext>
            </a:extLst>
          </p:cNvPr>
          <p:cNvSpPr/>
          <p:nvPr/>
        </p:nvSpPr>
        <p:spPr>
          <a:xfrm>
            <a:off x="605405" y="1457450"/>
            <a:ext cx="2617629" cy="1421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173A66"/>
                </a:solidFill>
                <a:latin typeface="+mn-lt"/>
              </a:rPr>
              <a:t>Экспериментальные данные и </a:t>
            </a:r>
            <a:r>
              <a:rPr lang="en-US" b="1" dirty="0" err="1">
                <a:solidFill>
                  <a:srgbClr val="173A66"/>
                </a:solidFill>
                <a:latin typeface="+mn-lt"/>
              </a:rPr>
              <a:t>оборудование</a:t>
            </a:r>
            <a:endParaRPr lang="en-US" dirty="0">
              <a:latin typeface="+mn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9B7122-6A3D-BAF3-E2BD-DD28DD1F0BD8}"/>
              </a:ext>
            </a:extLst>
          </p:cNvPr>
          <p:cNvSpPr/>
          <p:nvPr/>
        </p:nvSpPr>
        <p:spPr>
          <a:xfrm>
            <a:off x="3674349" y="1255795"/>
            <a:ext cx="4864245" cy="177711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Видеофрагмент 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MOT17-11-SDP: 900 </a:t>
            </a:r>
            <a:r>
              <a:rPr lang="en-US" dirty="0" err="1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кадров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, 1920×1080, 30 </a:t>
            </a:r>
            <a:r>
              <a:rPr lang="en-US" dirty="0" err="1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кадр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/с</a:t>
            </a:r>
            <a:r>
              <a:rPr lang="ru-RU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7518 </a:t>
            </a:r>
            <a:r>
              <a:rPr lang="en-US" dirty="0" err="1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наблюдения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, 53 </a:t>
            </a:r>
            <a:r>
              <a:rPr lang="en-US" dirty="0" err="1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эталонные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идентичности</a:t>
            </a:r>
            <a:endParaRPr lang="en-US" dirty="0">
              <a:latin typeface="+mn-lt"/>
            </a:endParaRP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Личный ноутбук, характеристики: </a:t>
            </a:r>
            <a:r>
              <a:rPr lang="en-US" dirty="0">
                <a:solidFill>
                  <a:srgbClr val="111111"/>
                </a:solidFill>
                <a:latin typeface="+mn-lt"/>
                <a:ea typeface="Arial" pitchFamily="34" charset="-122"/>
                <a:cs typeface="Arial" pitchFamily="34" charset="-120"/>
              </a:rPr>
              <a:t>Ryzen 5 5600H, 16 ГБ ОЗУ, RTX 3050 Laptop 4 ГБ</a:t>
            </a:r>
            <a:endParaRPr lang="en-US" dirty="0">
              <a:latin typeface="+mn-lt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ED6023-2835-4987-ABA1-1AB1BA4BA530}"/>
              </a:ext>
            </a:extLst>
          </p:cNvPr>
          <p:cNvSpPr/>
          <p:nvPr/>
        </p:nvSpPr>
        <p:spPr>
          <a:xfrm>
            <a:off x="495676" y="3283692"/>
            <a:ext cx="2884966" cy="1043864"/>
          </a:xfrm>
          <a:prstGeom prst="roundRect">
            <a:avLst>
              <a:gd name="adj" fmla="val 11765"/>
            </a:avLst>
          </a:prstGeom>
          <a:solidFill>
            <a:srgbClr val="FFF1E2"/>
          </a:solidFill>
          <a:ln w="12700">
            <a:solidFill>
              <a:srgbClr val="FFF1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97A6BD-7D32-2045-7893-3C001D12F7B9}"/>
              </a:ext>
            </a:extLst>
          </p:cNvPr>
          <p:cNvSpPr/>
          <p:nvPr/>
        </p:nvSpPr>
        <p:spPr>
          <a:xfrm>
            <a:off x="605404" y="3356842"/>
            <a:ext cx="2617630" cy="879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Зафиксированные параметры </a:t>
            </a:r>
            <a:r>
              <a:rPr lang="ru-RU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конф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игураци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и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4603A5-6336-2040-01C5-5D8EA2E2AB16}"/>
              </a:ext>
            </a:extLst>
          </p:cNvPr>
          <p:cNvSpPr/>
          <p:nvPr/>
        </p:nvSpPr>
        <p:spPr>
          <a:xfrm>
            <a:off x="3771900" y="3326149"/>
            <a:ext cx="1090968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F5DC3E-D438-D801-1EBA-6223E96AA43E}"/>
              </a:ext>
            </a:extLst>
          </p:cNvPr>
          <p:cNvSpPr/>
          <p:nvPr/>
        </p:nvSpPr>
        <p:spPr>
          <a:xfrm>
            <a:off x="3845051" y="3417589"/>
            <a:ext cx="974599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YOLO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07503F5-DE6A-D2BA-2276-E0C7ECD3A3F7}"/>
              </a:ext>
            </a:extLst>
          </p:cNvPr>
          <p:cNvSpPr/>
          <p:nvPr/>
        </p:nvSpPr>
        <p:spPr>
          <a:xfrm>
            <a:off x="4972910" y="3324277"/>
            <a:ext cx="1068626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069CFC-6B6D-E77A-CF2B-1ED3C143F342}"/>
              </a:ext>
            </a:extLst>
          </p:cNvPr>
          <p:cNvSpPr/>
          <p:nvPr/>
        </p:nvSpPr>
        <p:spPr>
          <a:xfrm>
            <a:off x="5046062" y="3415717"/>
            <a:ext cx="931842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conf = 0,45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214ABD-BF3B-71BD-875F-C40040670C31}"/>
              </a:ext>
            </a:extLst>
          </p:cNvPr>
          <p:cNvSpPr/>
          <p:nvPr/>
        </p:nvSpPr>
        <p:spPr>
          <a:xfrm>
            <a:off x="3771900" y="3855596"/>
            <a:ext cx="1427982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B3AB97-AF17-C10C-5A39-5438D92B3A12}"/>
              </a:ext>
            </a:extLst>
          </p:cNvPr>
          <p:cNvSpPr/>
          <p:nvPr/>
        </p:nvSpPr>
        <p:spPr>
          <a:xfrm>
            <a:off x="3845052" y="3947036"/>
            <a:ext cx="1275664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OSNet x1.0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F48EC6A-4777-3CAF-39F4-92E5800E97EB}"/>
              </a:ext>
            </a:extLst>
          </p:cNvPr>
          <p:cNvSpPr/>
          <p:nvPr/>
        </p:nvSpPr>
        <p:spPr>
          <a:xfrm>
            <a:off x="5508986" y="3859491"/>
            <a:ext cx="1285184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41B06D0-C4F7-24BF-84AC-2337D339F096}"/>
              </a:ext>
            </a:extLst>
          </p:cNvPr>
          <p:cNvSpPr/>
          <p:nvPr/>
        </p:nvSpPr>
        <p:spPr>
          <a:xfrm>
            <a:off x="5582138" y="3950931"/>
            <a:ext cx="1132866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match = 0,75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C2054EF-3052-4301-F830-DE4DA7E766B8}"/>
              </a:ext>
            </a:extLst>
          </p:cNvPr>
          <p:cNvSpPr/>
          <p:nvPr/>
        </p:nvSpPr>
        <p:spPr>
          <a:xfrm>
            <a:off x="7076354" y="3855596"/>
            <a:ext cx="1285184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76FB7D-EF92-5C7B-FB8C-8543621B521C}"/>
              </a:ext>
            </a:extLst>
          </p:cNvPr>
          <p:cNvSpPr/>
          <p:nvPr/>
        </p:nvSpPr>
        <p:spPr>
          <a:xfrm>
            <a:off x="7149506" y="3947036"/>
            <a:ext cx="1132866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update = 0,8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7D3AFF2-3287-5421-4CC2-80DD9BAC3CC2}"/>
              </a:ext>
            </a:extLst>
          </p:cNvPr>
          <p:cNvSpPr/>
          <p:nvPr/>
        </p:nvSpPr>
        <p:spPr>
          <a:xfrm>
            <a:off x="6151578" y="3328249"/>
            <a:ext cx="1049959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F64E75F1-3E56-B3B8-275F-DD30405B96B5}"/>
              </a:ext>
            </a:extLst>
          </p:cNvPr>
          <p:cNvSpPr/>
          <p:nvPr/>
        </p:nvSpPr>
        <p:spPr>
          <a:xfrm>
            <a:off x="6224731" y="3419689"/>
            <a:ext cx="915564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IoU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= 0,5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1A84568-1A4F-17FE-B932-F102D3107311}"/>
              </a:ext>
            </a:extLst>
          </p:cNvPr>
          <p:cNvSpPr/>
          <p:nvPr/>
        </p:nvSpPr>
        <p:spPr>
          <a:xfrm>
            <a:off x="7224053" y="4817827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accent4">
                    <a:lumMod val="75000"/>
                  </a:schemeClr>
                </a:solidFill>
              </a:rPr>
              <a:t>0,93</a:t>
            </a:r>
            <a:endParaRPr lang="en-US" sz="27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84CE88E-070A-7053-8F93-F94EA5F20946}"/>
              </a:ext>
            </a:extLst>
          </p:cNvPr>
          <p:cNvSpPr/>
          <p:nvPr/>
        </p:nvSpPr>
        <p:spPr>
          <a:xfrm>
            <a:off x="7224053" y="5329891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взвешенная чистота ID</a:t>
            </a:r>
            <a:endParaRPr lang="en-US" sz="125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2CC9907B-3401-5E24-9E89-86EC4FA35581}"/>
              </a:ext>
            </a:extLst>
          </p:cNvPr>
          <p:cNvSpPr/>
          <p:nvPr/>
        </p:nvSpPr>
        <p:spPr>
          <a:xfrm>
            <a:off x="5195716" y="4817827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0,79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39A5F308-D3F9-6475-A116-B1AD89563988}"/>
              </a:ext>
            </a:extLst>
          </p:cNvPr>
          <p:cNvSpPr/>
          <p:nvPr/>
        </p:nvSpPr>
        <p:spPr>
          <a:xfrm>
            <a:off x="5195716" y="5329891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успешные повторные появления</a:t>
            </a:r>
            <a:endParaRPr lang="en-US" sz="125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5E7E719-D3B0-CFBE-57D2-26985718386D}"/>
              </a:ext>
            </a:extLst>
          </p:cNvPr>
          <p:cNvSpPr/>
          <p:nvPr/>
        </p:nvSpPr>
        <p:spPr>
          <a:xfrm>
            <a:off x="3717985" y="4817827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B050"/>
                </a:solidFill>
              </a:rPr>
              <a:t>14,5</a:t>
            </a:r>
            <a:endParaRPr lang="en-US" sz="2700" dirty="0">
              <a:solidFill>
                <a:srgbClr val="00B050"/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976C9507-A9EC-C22C-8F8A-F56E3BF0D19E}"/>
              </a:ext>
            </a:extLst>
          </p:cNvPr>
          <p:cNvSpPr/>
          <p:nvPr/>
        </p:nvSpPr>
        <p:spPr>
          <a:xfrm>
            <a:off x="3717985" y="5329891"/>
            <a:ext cx="1234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кадр/с</a:t>
            </a:r>
            <a:endParaRPr lang="en-US" sz="125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CA0F435A-DA7C-E547-B8F9-EEB6ECA5E881}"/>
              </a:ext>
            </a:extLst>
          </p:cNvPr>
          <p:cNvSpPr/>
          <p:nvPr/>
        </p:nvSpPr>
        <p:spPr>
          <a:xfrm>
            <a:off x="605404" y="482166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5AA7"/>
                </a:solidFill>
              </a:rPr>
              <a:t>0,7</a:t>
            </a:r>
            <a:endParaRPr lang="en-US" sz="27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D9C9CE70-BDD3-E9BA-5E57-926EAB5F80C9}"/>
              </a:ext>
            </a:extLst>
          </p:cNvPr>
          <p:cNvSpPr/>
          <p:nvPr/>
        </p:nvSpPr>
        <p:spPr>
          <a:xfrm>
            <a:off x="605404" y="5333726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ru-RU" sz="1250" dirty="0">
                <a:solidFill>
                  <a:srgbClr val="111111"/>
                </a:solidFill>
              </a:rPr>
              <a:t>Полнота обнаружения</a:t>
            </a:r>
            <a:endParaRPr lang="en-US" sz="125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86191BB-3EAF-9E50-899C-937B9BF5AB62}"/>
              </a:ext>
            </a:extLst>
          </p:cNvPr>
          <p:cNvSpPr/>
          <p:nvPr/>
        </p:nvSpPr>
        <p:spPr>
          <a:xfrm>
            <a:off x="2072518" y="482166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5AA7"/>
                </a:solidFill>
              </a:rPr>
              <a:t>0,9</a:t>
            </a:r>
            <a:endParaRPr lang="en-US" sz="27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3711C4BF-9CBC-2676-9855-0597A0C7EB35}"/>
              </a:ext>
            </a:extLst>
          </p:cNvPr>
          <p:cNvSpPr/>
          <p:nvPr/>
        </p:nvSpPr>
        <p:spPr>
          <a:xfrm>
            <a:off x="2072518" y="5333726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ru-RU" sz="1250" dirty="0">
                <a:solidFill>
                  <a:srgbClr val="111111"/>
                </a:solidFill>
              </a:rPr>
              <a:t>Точность обнаружения</a:t>
            </a:r>
            <a:endParaRPr lang="en-US" sz="1250" dirty="0"/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288DA5DF-FC9F-3563-7B27-D79E1630F636}"/>
              </a:ext>
            </a:extLst>
          </p:cNvPr>
          <p:cNvSpPr/>
          <p:nvPr/>
        </p:nvSpPr>
        <p:spPr>
          <a:xfrm>
            <a:off x="7311579" y="3328752"/>
            <a:ext cx="1049959" cy="4719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779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697FB7B-27BC-B279-16F9-82EBD2601C75}"/>
              </a:ext>
            </a:extLst>
          </p:cNvPr>
          <p:cNvSpPr/>
          <p:nvPr/>
        </p:nvSpPr>
        <p:spPr>
          <a:xfrm>
            <a:off x="7384732" y="3420192"/>
            <a:ext cx="915564" cy="19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ema = 0,65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587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356867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195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Проведен анализ проблемы повторной идентификации и установлена необходимость разработки программного модуля для долгосрочной повторной идентификации объектов.</a:t>
            </a:r>
          </a:p>
          <a:p>
            <a:pPr marL="36195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Проделанный обзор </a:t>
            </a:r>
            <a:r>
              <a:rPr lang="ru-RU" sz="1600" dirty="0">
                <a:solidFill>
                  <a:schemeClr val="dk1"/>
                </a:solidFill>
              </a:rPr>
              <a:t>существующих решений показал отсутствие полноценной системы, реализующей детекцию, идентификацию и формирование сохраняемой галереи признаков объектов.</a:t>
            </a:r>
            <a:endParaRPr sz="1600" dirty="0">
              <a:solidFill>
                <a:schemeClr val="dk1"/>
              </a:solidFill>
            </a:endParaRPr>
          </a:p>
          <a:p>
            <a:pPr marL="36195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Спроектирован и </a:t>
            </a:r>
            <a:r>
              <a:rPr lang="ru-RU" sz="1600" dirty="0">
                <a:solidFill>
                  <a:schemeClr val="dk1"/>
                </a:solidFill>
              </a:rPr>
              <a:t>разработан программный модуль для повторной идентификации, сформирована </a:t>
            </a:r>
            <a:r>
              <a:rPr lang="en-US" sz="1600" dirty="0">
                <a:solidFill>
                  <a:schemeClr val="dk1"/>
                </a:solidFill>
              </a:rPr>
              <a:t>python-</a:t>
            </a:r>
            <a:r>
              <a:rPr lang="ru-RU" sz="1600" dirty="0">
                <a:solidFill>
                  <a:schemeClr val="dk1"/>
                </a:solidFill>
              </a:rPr>
              <a:t>библиотека для интеграции построенного решения в системы видеоаналитики</a:t>
            </a:r>
            <a:r>
              <a:rPr lang="en" sz="1600" dirty="0">
                <a:solidFill>
                  <a:schemeClr val="dk1"/>
                </a:solidFill>
              </a:rPr>
              <a:t>.</a:t>
            </a:r>
            <a:endParaRPr sz="1600" dirty="0">
              <a:solidFill>
                <a:schemeClr val="dk1"/>
              </a:solidFill>
            </a:endParaRPr>
          </a:p>
          <a:p>
            <a:pPr marL="361950" indent="-28575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dk1"/>
                </a:solidFill>
              </a:rPr>
              <a:t>Экспериментальное исследование </a:t>
            </a:r>
            <a:r>
              <a:rPr lang="ru-RU" sz="1600" dirty="0">
                <a:solidFill>
                  <a:schemeClr val="dk1"/>
                </a:solidFill>
              </a:rPr>
              <a:t>показало работоспособность модуля и соответствие требованиям на сложных видеофрагментах с высокой плотностью объектов.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Дальнейшие направления исследований включают в себя</a:t>
            </a:r>
            <a:r>
              <a:rPr lang="ru-RU" sz="1600" dirty="0">
                <a:solidFill>
                  <a:schemeClr val="dk1"/>
                </a:solidFill>
              </a:rPr>
              <a:t>: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Автоматический подбор параметров по видеофрагменту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Многокамерная повторная идентификация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Экспорт моделей в </a:t>
            </a:r>
            <a:r>
              <a:rPr lang="en-US" sz="1600" dirty="0">
                <a:solidFill>
                  <a:schemeClr val="dk1"/>
                </a:solidFill>
              </a:rPr>
              <a:t>ONNX </a:t>
            </a:r>
            <a:r>
              <a:rPr lang="ru-RU" sz="1600" dirty="0">
                <a:solidFill>
                  <a:schemeClr val="dk1"/>
                </a:solidFill>
              </a:rPr>
              <a:t>формат и аппаратное ускорение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Развитие стратегий обновления галереи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3204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400" dirty="0">
                <a:solidFill>
                  <a:srgbClr val="000000"/>
                </a:solidFill>
              </a:rPr>
              <a:t>Дамакин Р.П., Моисеев К.О. «Методы аугментации изображений в задаче повторной идентификации человека» </a:t>
            </a:r>
            <a:r>
              <a:rPr lang="en-US" sz="2400" dirty="0">
                <a:solidFill>
                  <a:srgbClr val="000000"/>
                </a:solidFill>
              </a:rPr>
              <a:t>// LIV </a:t>
            </a:r>
            <a:r>
              <a:rPr lang="ru-RU" sz="2400" dirty="0">
                <a:solidFill>
                  <a:srgbClr val="000000"/>
                </a:solidFill>
              </a:rPr>
              <a:t>международная научная конференция «Наука </a:t>
            </a:r>
            <a:r>
              <a:rPr lang="ru-RU" sz="2400" dirty="0" err="1">
                <a:solidFill>
                  <a:srgbClr val="000000"/>
                </a:solidFill>
              </a:rPr>
              <a:t>Росии</a:t>
            </a:r>
            <a:r>
              <a:rPr lang="ru-RU" sz="2400" dirty="0">
                <a:solidFill>
                  <a:srgbClr val="000000"/>
                </a:solidFill>
              </a:rPr>
              <a:t>: Цели и задачи», Калининград, 2026, С. 48-55.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ru-RU" sz="2400" dirty="0">
                <a:solidFill>
                  <a:srgbClr val="000000"/>
                </a:solidFill>
              </a:rPr>
              <a:t>Репозиторий проекта </a:t>
            </a:r>
            <a:r>
              <a:rPr lang="en-US" sz="24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https://github.com/CactysFedya/re-id</a:t>
            </a:r>
            <a:r>
              <a:rPr lang="ru-RU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0478C3-844A-3105-8712-080DB566B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99" y="4071542"/>
            <a:ext cx="1788059" cy="1788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DE310-472F-DB2A-C9D5-89F771C3FD89}"/>
              </a:ext>
            </a:extLst>
          </p:cNvPr>
          <p:cNvSpPr txBox="1"/>
          <p:nvPr/>
        </p:nvSpPr>
        <p:spPr>
          <a:xfrm>
            <a:off x="7217909" y="590984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F24BD-D1F9-957F-8CC5-6F1A2191631B}"/>
              </a:ext>
            </a:extLst>
          </p:cNvPr>
          <p:cNvSpPr txBox="1"/>
          <p:nvPr/>
        </p:nvSpPr>
        <p:spPr>
          <a:xfrm>
            <a:off x="311700" y="4598415"/>
            <a:ext cx="67325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 dirty="0">
                <a:solidFill>
                  <a:srgbClr val="000000"/>
                </a:solidFill>
              </a:rPr>
              <a:t>Python-</a:t>
            </a:r>
            <a:r>
              <a:rPr lang="ru-RU" sz="2400" dirty="0">
                <a:solidFill>
                  <a:srgbClr val="000000"/>
                </a:solidFill>
              </a:rPr>
              <a:t>библиотека </a:t>
            </a:r>
            <a:r>
              <a:rPr lang="en-US" sz="24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https://github.com/CactysFedya/re-id/releases/tag/v0.1.0</a:t>
            </a:r>
            <a:r>
              <a:rPr lang="ru-RU" sz="24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1ED7-D21F-D3DB-95F9-3BB3DAF4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Формулы измеряемых параметров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E4C3FC-D429-A0DD-D64C-2C66D8F23D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2457F-BB27-6891-8E0E-FBD5E2FC37D8}"/>
                  </a:ext>
                </a:extLst>
              </p:cNvPr>
              <p:cNvSpPr txBox="1"/>
              <p:nvPr/>
            </p:nvSpPr>
            <p:spPr>
              <a:xfrm>
                <a:off x="352922" y="2397800"/>
                <a:ext cx="4028652" cy="520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ru-RU" sz="1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𝐺𝑇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800" dirty="0"/>
                  <a:t> - полнота обнаружения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2457F-BB27-6891-8E0E-FBD5E2FC3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2" y="2397800"/>
                <a:ext cx="4028652" cy="520207"/>
              </a:xfrm>
              <a:prstGeom prst="rect">
                <a:avLst/>
              </a:prstGeom>
              <a:blipFill>
                <a:blip r:embed="rId2"/>
                <a:stretch>
                  <a:fillRect r="-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30D9E-C8F9-31C2-91CF-0C27E1700FD0}"/>
                  </a:ext>
                </a:extLst>
              </p:cNvPr>
              <p:cNvSpPr txBox="1"/>
              <p:nvPr/>
            </p:nvSpPr>
            <p:spPr>
              <a:xfrm>
                <a:off x="352922" y="2930227"/>
                <a:ext cx="4491950" cy="520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ru-RU" sz="1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𝑆𝑌𝑆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800" dirty="0"/>
                  <a:t> - точность обнаружения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30D9E-C8F9-31C2-91CF-0C27E1700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2" y="2930227"/>
                <a:ext cx="4491950" cy="520207"/>
              </a:xfrm>
              <a:prstGeom prst="rect">
                <a:avLst/>
              </a:prstGeom>
              <a:blipFill>
                <a:blip r:embed="rId3"/>
                <a:stretch>
                  <a:fillRect r="-10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8649C5-55B4-4260-B266-C5A695EA2A19}"/>
                  </a:ext>
                </a:extLst>
              </p:cNvPr>
              <p:cNvSpPr txBox="1"/>
              <p:nvPr/>
            </p:nvSpPr>
            <p:spPr>
              <a:xfrm>
                <a:off x="4803650" y="2178513"/>
                <a:ext cx="3332100" cy="94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𝑃𝑢𝑟𝑖𝑡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𝑤𝑒𝑖𝑔h𝑡𝑒𝑑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𝑦</m:t>
                            </m:r>
                            <m: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∈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𝑌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u-RU" sz="1800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𝑔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𝑦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,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𝑦</m:t>
                            </m:r>
                            <m: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∈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Noto Serif CJK SC"/>
                                <a:cs typeface="Lohit Devanagari"/>
                              </a:rPr>
                              <m:t>𝑌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Noto Serif CJK SC"/>
                                    <a:cs typeface="Lohit Devanagari"/>
                                  </a:rPr>
                                  <m:t>𝑔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𝑦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,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Noto Serif CJK SC"/>
                                        <a:cs typeface="Lohit Devanagari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den>
                    </m:f>
                  </m:oMath>
                </a14:m>
                <a:r>
                  <a:rPr lang="ru-RU" sz="1800" dirty="0"/>
                  <a:t> - взвешенная чистота </a:t>
                </a:r>
                <a:r>
                  <a:rPr lang="en-US" sz="1800" dirty="0"/>
                  <a:t>id</a:t>
                </a:r>
                <a:endParaRPr lang="ru-RU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8649C5-55B4-4260-B266-C5A695EA2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50" y="2178513"/>
                <a:ext cx="3332100" cy="944874"/>
              </a:xfrm>
              <a:prstGeom prst="rect">
                <a:avLst/>
              </a:prstGeom>
              <a:blipFill>
                <a:blip r:embed="rId4"/>
                <a:stretch>
                  <a:fillRect l="-1463"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3A5143-1CDF-9CE5-12DF-654E98CEA717}"/>
                  </a:ext>
                </a:extLst>
              </p:cNvPr>
              <p:cNvSpPr txBox="1"/>
              <p:nvPr/>
            </p:nvSpPr>
            <p:spPr>
              <a:xfrm>
                <a:off x="4803650" y="3123387"/>
                <a:ext cx="3790048" cy="1503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𝑛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𝑦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,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+mn-lt"/>
                    <a:ea typeface="Noto Serif CJK SC"/>
                    <a:cs typeface="Lohit Devanagari"/>
                  </a:rPr>
                  <a:t> обозначает число совпавших наблюдений, в которых системный идентификатор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𝑦</m:t>
                    </m:r>
                  </m:oMath>
                </a14:m>
                <a:r>
                  <a:rPr lang="ru-RU" sz="1800" dirty="0">
                    <a:effectLst/>
                    <a:latin typeface="+mn-lt"/>
                    <a:ea typeface="Noto Serif CJK SC"/>
                    <a:cs typeface="Lohit Devanagari"/>
                  </a:rPr>
                  <a:t> был сопоставлен с эталонной идентичностью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𝑔</m:t>
                    </m:r>
                  </m:oMath>
                </a14:m>
                <a:endParaRPr lang="ru-RU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3A5143-1CDF-9CE5-12DF-654E98CEA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50" y="3123387"/>
                <a:ext cx="3790048" cy="1503553"/>
              </a:xfrm>
              <a:prstGeom prst="rect">
                <a:avLst/>
              </a:prstGeom>
              <a:blipFill>
                <a:blip r:embed="rId5"/>
                <a:stretch>
                  <a:fillRect l="-1286" t="-2024" r="-2412"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5DD600-133A-F806-D939-60E1575C38E1}"/>
                  </a:ext>
                </a:extLst>
              </p:cNvPr>
              <p:cNvSpPr txBox="1"/>
              <p:nvPr/>
            </p:nvSpPr>
            <p:spPr>
              <a:xfrm>
                <a:off x="543972" y="3474874"/>
                <a:ext cx="2663000" cy="1103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𝑟𝑒𝑎𝑝𝑝</m:t>
                        </m:r>
                      </m:sub>
                    </m:sSub>
                    <m:r>
                      <a:rPr lang="ru-RU" sz="1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𝑠𝑎𝑚𝑒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𝑠𝑎𝑚𝑒</m:t>
                            </m:r>
                          </m:sub>
                        </m:sSub>
                        <m:r>
                          <a:rPr lang="ru-RU" sz="18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𝑐h𝑎𝑛𝑔𝑒𝑑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800" dirty="0"/>
                  <a:t> - успешные повторные появления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5DD600-133A-F806-D939-60E1575C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72" y="3474874"/>
                <a:ext cx="2663000" cy="1103187"/>
              </a:xfrm>
              <a:prstGeom prst="rect">
                <a:avLst/>
              </a:prstGeom>
              <a:blipFill>
                <a:blip r:embed="rId6"/>
                <a:stretch>
                  <a:fillRect l="-1831" r="-1373" b="-82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9FA479-E4DD-711E-2D34-0F18B7B8EDB3}"/>
                  </a:ext>
                </a:extLst>
              </p:cNvPr>
              <p:cNvSpPr txBox="1"/>
              <p:nvPr/>
            </p:nvSpPr>
            <p:spPr>
              <a:xfrm>
                <a:off x="394144" y="4626940"/>
                <a:ext cx="5625656" cy="635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𝐺𝑇</m:t>
                          </m:r>
                        </m:sub>
                      </m:sSub>
                      <m:r>
                        <a:rPr lang="ru-RU" sz="1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ru-RU" sz="1800" i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ru-RU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𝑆𝑌𝑆</m:t>
                          </m:r>
                        </m:sub>
                      </m:sSub>
                      <m:r>
                        <a:rPr lang="ru-RU" sz="1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ru-RU" sz="1800" i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ru-RU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sub>
                      </m:sSub>
                      <m:r>
                        <a:rPr lang="ru-RU" sz="18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9FA479-E4DD-711E-2D34-0F18B7B8E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44" y="4626940"/>
                <a:ext cx="5625656" cy="6356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5747F9-53D6-A8B8-95F3-67D22A258566}"/>
                  </a:ext>
                </a:extLst>
              </p:cNvPr>
              <p:cNvSpPr txBox="1"/>
              <p:nvPr/>
            </p:nvSpPr>
            <p:spPr>
              <a:xfrm>
                <a:off x="397192" y="5262627"/>
                <a:ext cx="8075266" cy="10020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𝐺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𝑓</m:t>
                        </m:r>
                      </m:sub>
                    </m:sSub>
                    <m:r>
                      <a:rPr lang="ru-RU" sz="1800" b="0" i="1" smtClean="0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 </m:t>
                    </m:r>
                  </m:oMath>
                </a14:m>
                <a:r>
                  <a:rPr lang="ru-RU" sz="1800" dirty="0">
                    <a:latin typeface="+mn-lt"/>
                    <a:ea typeface="Noto Serif CJK SC"/>
                    <a:cs typeface="Lohit Devanagari"/>
                  </a:rPr>
                  <a:t>– </a:t>
                </a:r>
                <a:r>
                  <a:rPr lang="ru-RU" sz="1800" dirty="0">
                    <a:effectLst/>
                    <a:latin typeface="+mn-lt"/>
                    <a:ea typeface="Noto Serif CJK SC"/>
                    <a:cs typeface="Lohit Devanagari"/>
                  </a:rPr>
                  <a:t>множество размеченных прямоугольников на кадре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Noto Serif CJK SC"/>
                        <a:cs typeface="Lohit Devanagari"/>
                      </a:rPr>
                      <m:t>𝑓</m:t>
                    </m:r>
                  </m:oMath>
                </a14:m>
                <a:endParaRPr lang="ru-RU" sz="1800" dirty="0">
                  <a:effectLst/>
                  <a:latin typeface="+mn-lt"/>
                  <a:ea typeface="Noto Serif CJK SC"/>
                  <a:cs typeface="Lohit Devanagar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𝐴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Noto Serif CJK SC"/>
                            <a:cs typeface="Lohit Devanagari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+mn-lt"/>
                    <a:ea typeface="Noto Serif CJK SC"/>
                    <a:cs typeface="Lohit Devanagari"/>
                  </a:rPr>
                  <a:t> </a:t>
                </a:r>
                <a:r>
                  <a:rPr lang="ru-RU" sz="1800" dirty="0">
                    <a:latin typeface="+mn-lt"/>
                    <a:ea typeface="Noto Serif CJK SC"/>
                    <a:cs typeface="Lohit Devanagari"/>
                  </a:rPr>
                  <a:t>–</a:t>
                </a:r>
                <a:r>
                  <a:rPr lang="ru-RU" sz="1800" dirty="0">
                    <a:effectLst/>
                    <a:latin typeface="+mn-lt"/>
                    <a:ea typeface="Noto Serif CJK SC"/>
                    <a:cs typeface="Lohit Devanagari"/>
                  </a:rPr>
                  <a:t> множество прямоугольников, сформированных системой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ru-RU" sz="1800" dirty="0">
                    <a:latin typeface="+mn-lt"/>
                  </a:rPr>
                  <a:t> – множество корректно сопоставленных обнаружений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5747F9-53D6-A8B8-95F3-67D22A258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" y="5262627"/>
                <a:ext cx="8075266" cy="1002006"/>
              </a:xfrm>
              <a:prstGeom prst="rect">
                <a:avLst/>
              </a:prstGeom>
              <a:blipFill>
                <a:blip r:embed="rId8"/>
                <a:stretch>
                  <a:fillRect t="-3030" b="-54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CFA9A17-4F6B-0431-AB18-0DDFBC70493F}"/>
              </a:ext>
            </a:extLst>
          </p:cNvPr>
          <p:cNvSpPr txBox="1"/>
          <p:nvPr/>
        </p:nvSpPr>
        <p:spPr>
          <a:xfrm>
            <a:off x="394144" y="1331724"/>
            <a:ext cx="7277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Приведенные формулы отображают значение метрик, используемых в экспериментальной оценке</a:t>
            </a:r>
          </a:p>
        </p:txBody>
      </p:sp>
    </p:spTree>
    <p:extLst>
      <p:ext uri="{BB962C8B-B14F-4D97-AF65-F5344CB8AC3E}">
        <p14:creationId xmlns:p14="http://schemas.microsoft.com/office/powerpoint/2010/main" val="3339469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F3468-1597-1A85-9D5F-D007D1F5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Галерея идентичностей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32CBDE-AD22-D4E4-EC55-C780A57CBE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21E095-2495-D509-0A6F-200318ECC4D0}"/>
              </a:ext>
            </a:extLst>
          </p:cNvPr>
          <p:cNvSpPr/>
          <p:nvPr/>
        </p:nvSpPr>
        <p:spPr>
          <a:xfrm>
            <a:off x="1896927" y="2385268"/>
            <a:ext cx="0" cy="455980"/>
          </a:xfrm>
          <a:prstGeom prst="line">
            <a:avLst/>
          </a:prstGeom>
          <a:noFill/>
          <a:ln w="13970">
            <a:solidFill>
              <a:srgbClr val="1E5AA7"/>
            </a:solidFill>
            <a:prstDash val="solid"/>
            <a:tailEnd type="triangle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E7B6FC-576C-ED31-60A3-F8F491C73878}"/>
              </a:ext>
            </a:extLst>
          </p:cNvPr>
          <p:cNvSpPr/>
          <p:nvPr/>
        </p:nvSpPr>
        <p:spPr>
          <a:xfrm>
            <a:off x="1896927" y="3463040"/>
            <a:ext cx="0" cy="455980"/>
          </a:xfrm>
          <a:prstGeom prst="line">
            <a:avLst/>
          </a:prstGeom>
          <a:noFill/>
          <a:ln w="13970">
            <a:solidFill>
              <a:srgbClr val="1E5AA7"/>
            </a:solidFill>
            <a:prstDash val="solid"/>
            <a:tailEnd type="triangle"/>
          </a:ln>
        </p:spPr>
        <p:txBody>
          <a:bodyPr/>
          <a:lstStyle/>
          <a:p>
            <a:endParaRPr lang="ru-RU" sz="1600" dirty="0">
              <a:latin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641431-214F-A333-E55D-ADB5A4413E0E}"/>
              </a:ext>
            </a:extLst>
          </p:cNvPr>
          <p:cNvSpPr/>
          <p:nvPr/>
        </p:nvSpPr>
        <p:spPr>
          <a:xfrm>
            <a:off x="1896927" y="4540812"/>
            <a:ext cx="0" cy="465529"/>
          </a:xfrm>
          <a:prstGeom prst="line">
            <a:avLst/>
          </a:prstGeom>
          <a:noFill/>
          <a:ln w="13970">
            <a:solidFill>
              <a:srgbClr val="1E5AA7"/>
            </a:solidFill>
            <a:prstDash val="solid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1E8830-B538-B60A-68EF-518E67F658D3}"/>
              </a:ext>
            </a:extLst>
          </p:cNvPr>
          <p:cNvSpPr/>
          <p:nvPr/>
        </p:nvSpPr>
        <p:spPr>
          <a:xfrm>
            <a:off x="913947" y="1763476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F0BFD2-86E4-90A4-CD94-42062B64D469}"/>
              </a:ext>
            </a:extLst>
          </p:cNvPr>
          <p:cNvSpPr/>
          <p:nvPr/>
        </p:nvSpPr>
        <p:spPr>
          <a:xfrm>
            <a:off x="1005387" y="1882348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признак</a:t>
            </a:r>
            <a:endParaRPr lang="en-US" sz="1600" dirty="0">
              <a:latin typeface="+mn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объекта</a:t>
            </a:r>
            <a:endParaRPr lang="en-US" sz="1600" dirty="0">
              <a:latin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EC259B-11CE-E88C-6A52-401AA9280C37}"/>
              </a:ext>
            </a:extLst>
          </p:cNvPr>
          <p:cNvSpPr/>
          <p:nvPr/>
        </p:nvSpPr>
        <p:spPr>
          <a:xfrm>
            <a:off x="909646" y="2841248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CD9DFE-2F86-50BC-3FF5-B389C3365724}"/>
              </a:ext>
            </a:extLst>
          </p:cNvPr>
          <p:cNvSpPr/>
          <p:nvPr/>
        </p:nvSpPr>
        <p:spPr>
          <a:xfrm>
            <a:off x="1001086" y="2960120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поиск</a:t>
            </a:r>
            <a:endParaRPr lang="en-US" sz="1600" dirty="0">
              <a:latin typeface="+mn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кандидата</a:t>
            </a:r>
            <a:endParaRPr lang="en-US" sz="1600" dirty="0">
              <a:latin typeface="+mn-lt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D012EA-7FBD-D765-55F4-D84D0BF27E06}"/>
              </a:ext>
            </a:extLst>
          </p:cNvPr>
          <p:cNvSpPr/>
          <p:nvPr/>
        </p:nvSpPr>
        <p:spPr>
          <a:xfrm>
            <a:off x="909646" y="3919020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185E4C9-A793-F635-972C-E61F3A4E1BEE}"/>
              </a:ext>
            </a:extLst>
          </p:cNvPr>
          <p:cNvSpPr/>
          <p:nvPr/>
        </p:nvSpPr>
        <p:spPr>
          <a:xfrm>
            <a:off x="1001086" y="4037892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подтверждение</a:t>
            </a:r>
            <a:endParaRPr lang="en-US" sz="1600" dirty="0">
              <a:latin typeface="+mn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на треке</a:t>
            </a:r>
            <a:endParaRPr lang="en-US" sz="1600" dirty="0">
              <a:latin typeface="+mn-lt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10FDA4A-A4A9-37C4-C24B-B1D417CB13BE}"/>
              </a:ext>
            </a:extLst>
          </p:cNvPr>
          <p:cNvSpPr/>
          <p:nvPr/>
        </p:nvSpPr>
        <p:spPr>
          <a:xfrm>
            <a:off x="913947" y="5006341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4BF8BD-B7B7-41C7-87CA-B19BD3E0A602}"/>
              </a:ext>
            </a:extLst>
          </p:cNvPr>
          <p:cNvSpPr/>
          <p:nvPr/>
        </p:nvSpPr>
        <p:spPr>
          <a:xfrm>
            <a:off x="1005387" y="5125213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обновление</a:t>
            </a:r>
            <a:endParaRPr lang="en-US" sz="1600" dirty="0">
              <a:latin typeface="+mn-lt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+mn-lt"/>
              </a:rPr>
              <a:t>или новый ID</a:t>
            </a:r>
            <a:endParaRPr lang="en-US" sz="1600" dirty="0">
              <a:latin typeface="+mn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5F09E5B-1D7E-BAE9-EF0E-378BC0AE2D94}"/>
              </a:ext>
            </a:extLst>
          </p:cNvPr>
          <p:cNvSpPr/>
          <p:nvPr/>
        </p:nvSpPr>
        <p:spPr>
          <a:xfrm>
            <a:off x="3382827" y="1854916"/>
            <a:ext cx="2195446" cy="1838898"/>
          </a:xfrm>
          <a:prstGeom prst="roundRect">
            <a:avLst>
              <a:gd name="adj" fmla="val 4615"/>
            </a:avLst>
          </a:prstGeom>
          <a:solidFill>
            <a:srgbClr val="EAF2FC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26D0BE8-D9B4-7DB5-1832-916C10E46FD4}"/>
              </a:ext>
            </a:extLst>
          </p:cNvPr>
          <p:cNvSpPr/>
          <p:nvPr/>
        </p:nvSpPr>
        <p:spPr>
          <a:xfrm>
            <a:off x="3529131" y="2001219"/>
            <a:ext cx="1902721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A66"/>
                </a:solidFill>
                <a:latin typeface="+mn-lt"/>
              </a:rPr>
              <a:t>Запись галереи</a:t>
            </a:r>
            <a:endParaRPr lang="en-US" sz="1600" dirty="0">
              <a:latin typeface="+mn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49EC7B-37A4-FB61-9CDE-787BE7AC8D42}"/>
              </a:ext>
            </a:extLst>
          </p:cNvPr>
          <p:cNvSpPr/>
          <p:nvPr/>
        </p:nvSpPr>
        <p:spPr>
          <a:xfrm>
            <a:off x="3529131" y="2357836"/>
            <a:ext cx="1902721" cy="12273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+mn-lt"/>
              </a:rPr>
              <a:t>ID, прототип признаков, класс, время наблюдения, число обновлений</a:t>
            </a:r>
            <a:endParaRPr lang="en-US" sz="1600" dirty="0">
              <a:latin typeface="+mn-lt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075CDAD-3EC2-8D31-B1DE-146082E78C08}"/>
              </a:ext>
            </a:extLst>
          </p:cNvPr>
          <p:cNvSpPr/>
          <p:nvPr/>
        </p:nvSpPr>
        <p:spPr>
          <a:xfrm>
            <a:off x="6034587" y="1854916"/>
            <a:ext cx="2195446" cy="1838898"/>
          </a:xfrm>
          <a:prstGeom prst="roundRect">
            <a:avLst>
              <a:gd name="adj" fmla="val 4615"/>
            </a:avLst>
          </a:prstGeom>
          <a:solidFill>
            <a:srgbClr val="EAF6F0"/>
          </a:solidFill>
          <a:ln w="12700">
            <a:solidFill>
              <a:srgbClr val="1A8A5B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C9A24F1-702D-31E7-8DF8-3B91658E8A18}"/>
              </a:ext>
            </a:extLst>
          </p:cNvPr>
          <p:cNvSpPr/>
          <p:nvPr/>
        </p:nvSpPr>
        <p:spPr>
          <a:xfrm>
            <a:off x="6180891" y="2001219"/>
            <a:ext cx="1902721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8A5B"/>
                </a:solidFill>
                <a:latin typeface="+mn-lt"/>
              </a:rPr>
              <a:t>Защита от ошибок</a:t>
            </a:r>
            <a:endParaRPr lang="en-US" sz="1600" dirty="0">
              <a:latin typeface="+mn-lt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F255EEA-6359-E8F6-8070-94A708A76CA2}"/>
              </a:ext>
            </a:extLst>
          </p:cNvPr>
          <p:cNvSpPr/>
          <p:nvPr/>
        </p:nvSpPr>
        <p:spPr>
          <a:xfrm>
            <a:off x="6180892" y="2357836"/>
            <a:ext cx="2049024" cy="12273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+mn-lt"/>
              </a:rPr>
              <a:t>порог сходства, </a:t>
            </a:r>
            <a:r>
              <a:rPr lang="ru-RU" sz="1600" dirty="0">
                <a:solidFill>
                  <a:srgbClr val="111111"/>
                </a:solidFill>
                <a:latin typeface="+mn-lt"/>
              </a:rPr>
              <a:t>подтверждение по нескольким кадрам, сопоставление </a:t>
            </a:r>
            <a:r>
              <a:rPr lang="en-US" sz="1600" dirty="0">
                <a:solidFill>
                  <a:srgbClr val="111111"/>
                </a:solidFill>
                <a:latin typeface="+mn-lt"/>
              </a:rPr>
              <a:t>id</a:t>
            </a:r>
            <a:r>
              <a:rPr lang="ru-RU" sz="1600" dirty="0">
                <a:solidFill>
                  <a:srgbClr val="111111"/>
                </a:solidFill>
                <a:latin typeface="+mn-lt"/>
              </a:rPr>
              <a:t> одного класса</a:t>
            </a:r>
            <a:endParaRPr lang="en-US" sz="1600" dirty="0">
              <a:latin typeface="+mn-lt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3E957A2-4209-105C-A389-02D65A9EA13E}"/>
              </a:ext>
            </a:extLst>
          </p:cNvPr>
          <p:cNvSpPr/>
          <p:nvPr/>
        </p:nvSpPr>
        <p:spPr>
          <a:xfrm>
            <a:off x="3364237" y="4393551"/>
            <a:ext cx="49377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B9C1CC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FF4BFEE-2A49-5AA5-B002-56DC9F3B6745}"/>
              </a:ext>
            </a:extLst>
          </p:cNvPr>
          <p:cNvSpPr/>
          <p:nvPr/>
        </p:nvSpPr>
        <p:spPr>
          <a:xfrm>
            <a:off x="3638557" y="4530711"/>
            <a:ext cx="4297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A66"/>
                </a:solidFill>
                <a:latin typeface="+mn-lt"/>
                <a:ea typeface="Arial" pitchFamily="34" charset="-122"/>
                <a:cs typeface="Arial" pitchFamily="34" charset="-120"/>
              </a:rPr>
              <a:t>Сопоставление:  s = e · p</a:t>
            </a:r>
            <a:endParaRPr lang="en-US" sz="1600" dirty="0">
              <a:latin typeface="+mn-lt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A01061-F91E-E073-1BB8-94044E06FA56}"/>
              </a:ext>
            </a:extLst>
          </p:cNvPr>
          <p:cNvSpPr/>
          <p:nvPr/>
        </p:nvSpPr>
        <p:spPr>
          <a:xfrm>
            <a:off x="3638557" y="5061063"/>
            <a:ext cx="4297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A66"/>
                </a:solidFill>
                <a:latin typeface="+mn-lt"/>
                <a:ea typeface="Arial" pitchFamily="34" charset="-122"/>
                <a:cs typeface="Arial" pitchFamily="34" charset="-120"/>
              </a:rPr>
              <a:t>Обновление:  p ← αp + (1−α)e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8054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350F6-46BD-6F73-D231-B4A51E4F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используемых видеофрагментов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896FDD-9E8F-4953-F95A-A015CF871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9053239-7060-7CCE-A1F8-DC0796C0F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2102"/>
              </p:ext>
            </p:extLst>
          </p:nvPr>
        </p:nvGraphicFramePr>
        <p:xfrm>
          <a:off x="311700" y="1356866"/>
          <a:ext cx="8160757" cy="5052509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729255">
                  <a:extLst>
                    <a:ext uri="{9D8B030D-6E8A-4147-A177-3AD203B41FA5}">
                      <a16:colId xmlns:a16="http://schemas.microsoft.com/office/drawing/2014/main" val="1903836903"/>
                    </a:ext>
                  </a:extLst>
                </a:gridCol>
                <a:gridCol w="1409177">
                  <a:extLst>
                    <a:ext uri="{9D8B030D-6E8A-4147-A177-3AD203B41FA5}">
                      <a16:colId xmlns:a16="http://schemas.microsoft.com/office/drawing/2014/main" val="4216316303"/>
                    </a:ext>
                  </a:extLst>
                </a:gridCol>
                <a:gridCol w="1178888">
                  <a:extLst>
                    <a:ext uri="{9D8B030D-6E8A-4147-A177-3AD203B41FA5}">
                      <a16:colId xmlns:a16="http://schemas.microsoft.com/office/drawing/2014/main" val="2430281723"/>
                    </a:ext>
                  </a:extLst>
                </a:gridCol>
                <a:gridCol w="1409177">
                  <a:extLst>
                    <a:ext uri="{9D8B030D-6E8A-4147-A177-3AD203B41FA5}">
                      <a16:colId xmlns:a16="http://schemas.microsoft.com/office/drawing/2014/main" val="694701916"/>
                    </a:ext>
                  </a:extLst>
                </a:gridCol>
                <a:gridCol w="2434260">
                  <a:extLst>
                    <a:ext uri="{9D8B030D-6E8A-4147-A177-3AD203B41FA5}">
                      <a16:colId xmlns:a16="http://schemas.microsoft.com/office/drawing/2014/main" val="3080885770"/>
                    </a:ext>
                  </a:extLst>
                </a:gridCol>
              </a:tblGrid>
              <a:tr h="7298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Данные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Количество кадров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Частота кадров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Разрешение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Назначение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835088"/>
                  </a:ext>
                </a:extLst>
              </a:tr>
              <a:tr h="7298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MOT17-</a:t>
                      </a:r>
                      <a:r>
                        <a:rPr lang="en-US" sz="1400" dirty="0">
                          <a:effectLst/>
                        </a:rPr>
                        <a:t>11</a:t>
                      </a:r>
                      <a:r>
                        <a:rPr lang="ru-RU" sz="1400" dirty="0">
                          <a:effectLst/>
                        </a:rPr>
                        <a:t>-SDP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30 кадр/с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1920x1080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Подбор параметров конфигурации и экспериментальная оценка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5507189"/>
                  </a:ext>
                </a:extLst>
              </a:tr>
              <a:tr h="18947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MOT17-05-SDP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200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14 кадр/с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640x480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Моделирование пропажи объекта из кадра и последующего возвращения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6667832"/>
                  </a:ext>
                </a:extLst>
              </a:tr>
              <a:tr h="15064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Тестовый видеофрагмент без разметки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3755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30 кадр/с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1280x720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Одновременная детекция людей и автомобилей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Noto Serif CJK SC"/>
                        <a:cs typeface="Lohit Devanaga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543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594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1018</Words>
  <Application>Microsoft Office PowerPoint</Application>
  <PresentationFormat>Экран (4:3)</PresentationFormat>
  <Paragraphs>210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Times New Roman</vt:lpstr>
      <vt:lpstr>Simple Light</vt:lpstr>
      <vt:lpstr>Программный модуль для повторной идентификации объектов в видеопотоке с камер видеонаблюдения</vt:lpstr>
      <vt:lpstr>Актуальность и проблема</vt:lpstr>
      <vt:lpstr>Цель и задачи</vt:lpstr>
      <vt:lpstr>Подробнее о постановке задачи</vt:lpstr>
      <vt:lpstr>Задача 1. Обзор аналогов</vt:lpstr>
      <vt:lpstr>Задача 2. Требования к программному модулю</vt:lpstr>
      <vt:lpstr>Задача 3. Архитектура конвейера ReID</vt:lpstr>
      <vt:lpstr>Задача 4. Реализация и используемые технологии</vt:lpstr>
      <vt:lpstr>Задача 5. Проверка функциональных возможностей</vt:lpstr>
      <vt:lpstr>Экспериментальная оценка</vt:lpstr>
      <vt:lpstr>Заключение</vt:lpstr>
      <vt:lpstr>Апробация работы</vt:lpstr>
      <vt:lpstr>Запасные слайды</vt:lpstr>
      <vt:lpstr>Формулы измеряемых параметров</vt:lpstr>
      <vt:lpstr>Галерея идентичностей</vt:lpstr>
      <vt:lpstr>Характеристики используемых видеофрагментов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Дамакин Роман Павлович</cp:lastModifiedBy>
  <cp:revision>17</cp:revision>
  <dcterms:modified xsi:type="dcterms:W3CDTF">2026-05-21T17:03:33Z</dcterms:modified>
</cp:coreProperties>
</file>